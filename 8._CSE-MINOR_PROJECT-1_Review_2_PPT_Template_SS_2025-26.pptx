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0" r:id="rId1"/>
  </p:sldMasterIdLst>
  <p:notesMasterIdLst>
    <p:notesMasterId r:id="rId35"/>
  </p:notesMasterIdLst>
  <p:handoutMasterIdLst>
    <p:handoutMasterId r:id="rId36"/>
  </p:handoutMasterIdLst>
  <p:sldIdLst>
    <p:sldId id="287" r:id="rId2"/>
    <p:sldId id="295" r:id="rId3"/>
    <p:sldId id="296" r:id="rId4"/>
    <p:sldId id="297" r:id="rId5"/>
    <p:sldId id="330" r:id="rId6"/>
    <p:sldId id="298" r:id="rId7"/>
    <p:sldId id="299" r:id="rId8"/>
    <p:sldId id="300" r:id="rId9"/>
    <p:sldId id="301" r:id="rId10"/>
    <p:sldId id="331" r:id="rId11"/>
    <p:sldId id="302" r:id="rId12"/>
    <p:sldId id="303" r:id="rId13"/>
    <p:sldId id="306" r:id="rId14"/>
    <p:sldId id="304" r:id="rId15"/>
    <p:sldId id="305" r:id="rId16"/>
    <p:sldId id="307" r:id="rId17"/>
    <p:sldId id="308" r:id="rId18"/>
    <p:sldId id="309" r:id="rId19"/>
    <p:sldId id="310" r:id="rId20"/>
    <p:sldId id="311" r:id="rId21"/>
    <p:sldId id="312" r:id="rId22"/>
    <p:sldId id="313" r:id="rId23"/>
    <p:sldId id="315" r:id="rId24"/>
    <p:sldId id="319" r:id="rId25"/>
    <p:sldId id="320" r:id="rId26"/>
    <p:sldId id="321" r:id="rId27"/>
    <p:sldId id="322" r:id="rId28"/>
    <p:sldId id="323" r:id="rId29"/>
    <p:sldId id="325" r:id="rId30"/>
    <p:sldId id="326" r:id="rId31"/>
    <p:sldId id="327" r:id="rId32"/>
    <p:sldId id="329" r:id="rId33"/>
    <p:sldId id="294" r:id="rId34"/>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snapToGrid="0">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FA86EE7-89B6-FEE2-F11A-B1C827A6F2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76B784-4FB6-471C-91EA-1AAA7047F172}" type="slidenum">
              <a:rPr lang="en-IN" smtClean="0"/>
              <a:pPr/>
              <a:t>‹#›</a:t>
            </a:fld>
            <a:endParaRPr lang="en-IN"/>
          </a:p>
        </p:txBody>
      </p:sp>
      <p:sp>
        <p:nvSpPr>
          <p:cNvPr id="9" name="Header Placeholder 8">
            <a:extLst>
              <a:ext uri="{FF2B5EF4-FFF2-40B4-BE49-F238E27FC236}">
                <a16:creationId xmlns:a16="http://schemas.microsoft.com/office/drawing/2014/main" id="{B6AE105E-16BB-A797-0565-5E95A0F7C5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err="1"/>
              <a:t>xvs</a:t>
            </a:r>
            <a:endParaRPr lang="en-IN" dirty="0"/>
          </a:p>
        </p:txBody>
      </p:sp>
      <p:sp>
        <p:nvSpPr>
          <p:cNvPr id="12" name="Date Placeholder 11">
            <a:extLst>
              <a:ext uri="{FF2B5EF4-FFF2-40B4-BE49-F238E27FC236}">
                <a16:creationId xmlns:a16="http://schemas.microsoft.com/office/drawing/2014/main" id="{F4D49AAD-8FE3-8291-6D10-5C0BCFBE0E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F12033-2EDF-405D-A660-8698D41E1567}" type="datetime1">
              <a:rPr lang="en-US" smtClean="0"/>
              <a:pPr/>
              <a:t>11/10/2025</a:t>
            </a:fld>
            <a:endParaRPr lang="en-IN"/>
          </a:p>
        </p:txBody>
      </p:sp>
      <p:sp>
        <p:nvSpPr>
          <p:cNvPr id="14" name="Footer Placeholder 13">
            <a:extLst>
              <a:ext uri="{FF2B5EF4-FFF2-40B4-BE49-F238E27FC236}">
                <a16:creationId xmlns:a16="http://schemas.microsoft.com/office/drawing/2014/main" id="{23FBE854-ECCB-3414-A781-B2D310C20D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SAD</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263993401"/>
      </p:ext>
    </p:extLst>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25611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2A4A78-AB98-4C27-A03B-1FDB5F943EB5}" type="datetime4">
              <a:rPr lang="en-US" smtClean="0"/>
              <a:pPr/>
              <a:t>November 10,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880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D00544-B2CB-480A-8E68-8A818093FCE5}" type="datetime4">
              <a:rPr lang="en-US" smtClean="0"/>
              <a:pPr/>
              <a:t>November 10,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33764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21569-787D-4B28-BF58-C15BD049FF4C}" type="datetime4">
              <a:rPr lang="en-US" smtClean="0"/>
              <a:pPr/>
              <a:t>November 10,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6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689255-858F-4E3D-94A1-E1E39F87E4E8}" type="datetime4">
              <a:rPr lang="en-US" smtClean="0"/>
              <a:pPr/>
              <a:t>November 10, 2025</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7254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F56071E2-7C69-E08A-1AFE-2E7A0032A58B}"/>
              </a:ext>
            </a:extLst>
          </p:cNvPr>
          <p:cNvSpPr>
            <a:spLocks noGrp="1"/>
          </p:cNvSpPr>
          <p:nvPr>
            <p:ph type="dt" sz="half" idx="10"/>
          </p:nvPr>
        </p:nvSpPr>
        <p:spPr/>
        <p:txBody>
          <a:bodyPr/>
          <a:lstStyle/>
          <a:p>
            <a:fld id="{A81B212C-96E6-4A1C-BD8B-5A9E1F64C4D6}" type="datetime4">
              <a:rPr lang="en-US" smtClean="0"/>
              <a:pPr/>
              <a:t>November 10, 2025</a:t>
            </a:fld>
            <a:endParaRPr lang="en-US"/>
          </a:p>
        </p:txBody>
      </p:sp>
      <p:sp>
        <p:nvSpPr>
          <p:cNvPr id="11" name="Footer Placeholder 10">
            <a:extLst>
              <a:ext uri="{FF2B5EF4-FFF2-40B4-BE49-F238E27FC236}">
                <a16:creationId xmlns:a16="http://schemas.microsoft.com/office/drawing/2014/main" id="{B66C106E-F7C0-F15E-EEAE-7574BABE5A8F}"/>
              </a:ext>
            </a:extLst>
          </p:cNvPr>
          <p:cNvSpPr>
            <a:spLocks noGrp="1"/>
          </p:cNvSpPr>
          <p:nvPr>
            <p:ph type="ftr" sz="quarter" idx="11"/>
          </p:nvPr>
        </p:nvSpPr>
        <p:spPr/>
        <p:txBody>
          <a:bodyPr/>
          <a:lstStyle/>
          <a:p>
            <a:r>
              <a:rPr lang="en-IN"/>
              <a:t>DEPARTMENT OF COMPUTER SCIENCE &amp; ENGINEERING   / PROJECT TITLE</a:t>
            </a:r>
          </a:p>
        </p:txBody>
      </p:sp>
      <p:sp>
        <p:nvSpPr>
          <p:cNvPr id="12" name="Slide Number Placeholder 11">
            <a:extLst>
              <a:ext uri="{FF2B5EF4-FFF2-40B4-BE49-F238E27FC236}">
                <a16:creationId xmlns:a16="http://schemas.microsoft.com/office/drawing/2014/main" id="{8A0CD58A-C169-060C-DAE9-BEFB15E63BE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46731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E3FEEA-94A0-4780-8034-6B4F50182C72}" type="datetime4">
              <a:rPr lang="en-US" smtClean="0"/>
              <a:pPr/>
              <a:t>November 10, 2025</a:t>
            </a:fld>
            <a:endParaRPr lang="en-US"/>
          </a:p>
        </p:txBody>
      </p:sp>
      <p:sp>
        <p:nvSpPr>
          <p:cNvPr id="4" name="Footer Placeholder 3"/>
          <p:cNvSpPr>
            <a:spLocks noGrp="1"/>
          </p:cNvSpPr>
          <p:nvPr>
            <p:ph type="ftr" sz="quarter" idx="11"/>
          </p:nvPr>
        </p:nvSpPr>
        <p:spPr/>
        <p:txBody>
          <a:bodyPr/>
          <a:lstStyle/>
          <a:p>
            <a:r>
              <a:rPr lang="en-IN"/>
              <a:t>DEPARTMENT OF COMPUTER SCIENCE &amp; ENGINEERING   / PROJECT TITLE</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074179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a:extLst>
              <a:ext uri="{FF2B5EF4-FFF2-40B4-BE49-F238E27FC236}">
                <a16:creationId xmlns:a16="http://schemas.microsoft.com/office/drawing/2014/main" id="{F6CA7D8D-414D-3E98-2A4E-41E1C7826D6F}"/>
              </a:ext>
            </a:extLst>
          </p:cNvPr>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a:extLst>
              <a:ext uri="{FF2B5EF4-FFF2-40B4-BE49-F238E27FC236}">
                <a16:creationId xmlns:a16="http://schemas.microsoft.com/office/drawing/2014/main" id="{16911686-75FC-885E-9B6C-C71102A6083A}"/>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602F1127-9E64-DE43-F6A4-F7AD9B59A6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936066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5A61ED53-1557-48CE-8123-0F97BD6F5650}" type="datetime4">
              <a:rPr lang="en-US" smtClean="0"/>
              <a:pPr/>
              <a:t>November 10, 2025</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849128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66FC48DB-39AD-497D-8330-7463C2179DE1}" type="datetime4">
              <a:rPr lang="en-US" smtClean="0"/>
              <a:pPr/>
              <a:t>November 10, 2025</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435646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3E0C0-228A-4082-81D2-A22D1B3A4D51}" type="datetime4">
              <a:rPr lang="en-US" smtClean="0"/>
              <a:pPr/>
              <a:t>November 10,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93405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38729-B38B-4E7B-A4F9-C7D61D129B30}" type="datetime4">
              <a:rPr lang="en-US" smtClean="0"/>
              <a:pPr/>
              <a:t>November 10,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794050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04A8CDA6-3F51-4CAD-8EC3-2E80C1A81474}" type="datetime4">
              <a:rPr lang="en-US" smtClean="0"/>
              <a:pPr/>
              <a:t>November 10, 2025</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IN"/>
              <a:t>DEPARTMENT OF COMPUTER SCIENCE &amp; ENGINEERING   / PROJECT TITLE</a:t>
            </a:r>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25671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602672" y="2009983"/>
            <a:ext cx="17415164" cy="3130281"/>
          </a:xfrm>
          <a:prstGeom prst="rect">
            <a:avLst/>
          </a:prstGeom>
        </p:spPr>
        <p:txBody>
          <a:bodyPr wrap="square">
            <a:spAutoFit/>
          </a:bodyPr>
          <a:lstStyle/>
          <a:p>
            <a:pPr marL="12065" marR="5080" algn="ctr">
              <a:lnSpc>
                <a:spcPct val="101600"/>
              </a:lnSpc>
              <a:spcBef>
                <a:spcPts val="70"/>
              </a:spcBef>
            </a:pPr>
            <a:r>
              <a:rPr lang="en-IN" sz="2000" b="1" spc="-25" dirty="0">
                <a:latin typeface="Times New Roman" pitchFamily="18" charset="0"/>
                <a:cs typeface="Times New Roman" pitchFamily="18" charset="0"/>
              </a:rPr>
              <a:t>DEPARTMENT </a:t>
            </a:r>
            <a:r>
              <a:rPr lang="en-IN" sz="2000" b="1" spc="-5" dirty="0">
                <a:latin typeface="Times New Roman" pitchFamily="18" charset="0"/>
                <a:cs typeface="Times New Roman" pitchFamily="18" charset="0"/>
              </a:rPr>
              <a:t>OF COMPUTER SCIENCE</a:t>
            </a:r>
            <a:r>
              <a:rPr lang="en-IN" sz="2000" b="1" spc="-125" dirty="0">
                <a:latin typeface="Times New Roman" pitchFamily="18" charset="0"/>
                <a:cs typeface="Times New Roman" pitchFamily="18" charset="0"/>
              </a:rPr>
              <a:t> </a:t>
            </a:r>
            <a:r>
              <a:rPr lang="en-IN" sz="2000" b="1" dirty="0">
                <a:latin typeface="Times New Roman" pitchFamily="18" charset="0"/>
                <a:cs typeface="Times New Roman" pitchFamily="18" charset="0"/>
              </a:rPr>
              <a:t>&amp;  </a:t>
            </a:r>
            <a:r>
              <a:rPr lang="en-IN" sz="2000" b="1" spc="-5" dirty="0">
                <a:latin typeface="Times New Roman" pitchFamily="18" charset="0"/>
                <a:cs typeface="Times New Roman" pitchFamily="18" charset="0"/>
              </a:rPr>
              <a:t>ENGINEERING </a:t>
            </a:r>
          </a:p>
          <a:p>
            <a:pPr marL="12065" marR="5080" algn="ctr">
              <a:lnSpc>
                <a:spcPct val="101600"/>
              </a:lnSpc>
              <a:spcBef>
                <a:spcPts val="70"/>
              </a:spcBef>
            </a:pPr>
            <a:r>
              <a:rPr lang="en-IN" sz="2000" b="1" spc="-5" dirty="0">
                <a:latin typeface="Times New Roman" pitchFamily="18" charset="0"/>
                <a:cs typeface="Times New Roman" pitchFamily="18" charset="0"/>
              </a:rPr>
              <a:t>SCHOOL OF COMPUTING  </a:t>
            </a:r>
          </a:p>
          <a:p>
            <a:pPr marL="12065" marR="5080" algn="ctr">
              <a:lnSpc>
                <a:spcPct val="101600"/>
              </a:lnSpc>
              <a:spcBef>
                <a:spcPts val="70"/>
              </a:spcBef>
            </a:pPr>
            <a:r>
              <a:rPr lang="en-IN" sz="2000" b="1" dirty="0">
                <a:latin typeface="Times New Roman" pitchFamily="18" charset="0"/>
                <a:cs typeface="Times New Roman" pitchFamily="18" charset="0"/>
              </a:rPr>
              <a:t>10214CS601 </a:t>
            </a:r>
            <a:r>
              <a:rPr lang="en-IN" sz="2000" b="1" spc="-5" dirty="0">
                <a:latin typeface="Times New Roman" pitchFamily="18" charset="0"/>
                <a:cs typeface="Times New Roman" pitchFamily="18" charset="0"/>
              </a:rPr>
              <a:t>MINOR PROJECT -1</a:t>
            </a:r>
          </a:p>
          <a:p>
            <a:pPr marL="12065" marR="5080" algn="ctr">
              <a:lnSpc>
                <a:spcPct val="101600"/>
              </a:lnSpc>
              <a:spcBef>
                <a:spcPts val="70"/>
              </a:spcBef>
            </a:pPr>
            <a:r>
              <a:rPr lang="en-IN" sz="2000" b="1" spc="-5" dirty="0">
                <a:latin typeface="Times New Roman" pitchFamily="18" charset="0"/>
                <a:cs typeface="Times New Roman" pitchFamily="18" charset="0"/>
              </a:rPr>
              <a:t>SUMMER SEMESTER(2025-2026)  </a:t>
            </a:r>
          </a:p>
          <a:p>
            <a:pPr marL="12065" marR="5080" algn="ctr">
              <a:lnSpc>
                <a:spcPct val="101600"/>
              </a:lnSpc>
              <a:spcBef>
                <a:spcPts val="70"/>
              </a:spcBef>
            </a:pPr>
            <a:r>
              <a:rPr lang="en-IN" sz="2400" b="1" spc="-5" dirty="0">
                <a:latin typeface="Times New Roman" pitchFamily="18" charset="0"/>
                <a:cs typeface="Times New Roman" pitchFamily="18" charset="0"/>
              </a:rPr>
              <a:t>REVIEW-II</a:t>
            </a:r>
            <a:endParaRPr lang="en-IN" sz="24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endParaRPr lang="en-IN" sz="20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r>
              <a:rPr lang="en-IN" sz="2000" b="1" dirty="0">
                <a:latin typeface="Times New Roman" pitchFamily="18" charset="0"/>
                <a:cs typeface="Times New Roman" pitchFamily="18" charset="0"/>
              </a:rPr>
              <a:t>                       </a:t>
            </a:r>
            <a:r>
              <a:rPr lang="en-IN" sz="2800" b="1" dirty="0">
                <a:latin typeface="Times New Roman" pitchFamily="18" charset="0"/>
                <a:cs typeface="Times New Roman" pitchFamily="18" charset="0"/>
              </a:rPr>
              <a:t>“</a:t>
            </a:r>
            <a:r>
              <a:rPr lang="en-US" sz="2800" b="1" dirty="0">
                <a:latin typeface="Times New Roman" pitchFamily="18" charset="0"/>
                <a:cs typeface="Times New Roman" pitchFamily="18" charset="0"/>
              </a:rPr>
              <a:t>BONE FACTURE DETECTION SYSTEM USING YOLO DEEP LEARNING</a:t>
            </a:r>
            <a:r>
              <a:rPr lang="en-IN" sz="2800" b="1" spc="-5"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sp>
        <p:nvSpPr>
          <p:cNvPr id="29" name="Slide Number Placeholder 3"/>
          <p:cNvSpPr txBox="1">
            <a:spLocks/>
          </p:cNvSpPr>
          <p:nvPr/>
        </p:nvSpPr>
        <p:spPr>
          <a:xfrm>
            <a:off x="15740698" y="275977"/>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31" name="Rectangle 30"/>
          <p:cNvSpPr/>
          <p:nvPr/>
        </p:nvSpPr>
        <p:spPr>
          <a:xfrm>
            <a:off x="311727" y="7704404"/>
            <a:ext cx="9144000" cy="1015663"/>
          </a:xfrm>
          <a:prstGeom prst="rect">
            <a:avLst/>
          </a:prstGeom>
        </p:spPr>
        <p:txBody>
          <a:bodyPr>
            <a:spAutoFit/>
          </a:bodyPr>
          <a:lstStyle/>
          <a:p>
            <a:pPr marL="228600" indent="-228600" algn="just">
              <a:buAutoNum type="arabicPeriod"/>
              <a:defRPr/>
            </a:pPr>
            <a:r>
              <a:rPr lang="en-US" sz="20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V.SAI NAVADEEP KRISHNA	(VTU 24596)(23UECS0600)</a:t>
            </a:r>
          </a:p>
          <a:p>
            <a:pPr marL="228600" indent="-228600" algn="just">
              <a:buAutoNum type="arabicPeriod"/>
              <a:defRPr/>
            </a:pPr>
            <a:r>
              <a:rPr lang="en-US" sz="20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P.HARSHA VARDHAN			(VTU 24747)(23UECS0433)</a:t>
            </a:r>
          </a:p>
          <a:p>
            <a:pPr algn="just">
              <a:defRPr/>
            </a:pPr>
            <a:r>
              <a:rPr lang="en-US" sz="2000" dirty="0">
                <a:solidFill>
                  <a:srgbClr val="051D40"/>
                </a:solidFill>
                <a:latin typeface="Times New Roman" panose="02020603050405020304" pitchFamily="18" charset="0"/>
                <a:ea typeface="Open Sans Extra Bold"/>
                <a:cs typeface="Times New Roman" panose="02020603050405020304" pitchFamily="18" charset="0"/>
                <a:sym typeface="Open Sans Extra Bold"/>
              </a:rPr>
              <a:t>3. B.YASHWANTH 				(VTU 24565)(23UECS0076)</a:t>
            </a:r>
          </a:p>
        </p:txBody>
      </p:sp>
      <p:sp>
        <p:nvSpPr>
          <p:cNvPr id="32" name="TextBox 31"/>
          <p:cNvSpPr txBox="1"/>
          <p:nvPr/>
        </p:nvSpPr>
        <p:spPr>
          <a:xfrm>
            <a:off x="351841" y="7003473"/>
            <a:ext cx="4344850" cy="400110"/>
          </a:xfrm>
          <a:prstGeom prst="rect">
            <a:avLst/>
          </a:prstGeom>
          <a:noFill/>
        </p:spPr>
        <p:txBody>
          <a:bodyPr wrap="square" rtlCol="0">
            <a:spAutoFit/>
          </a:bodyPr>
          <a:lstStyle/>
          <a:p>
            <a:r>
              <a:rPr lang="en-IN" sz="2000" b="1" dirty="0">
                <a:latin typeface="Times New Roman" pitchFamily="18" charset="0"/>
                <a:cs typeface="Times New Roman" pitchFamily="18" charset="0"/>
              </a:rPr>
              <a:t>PRESENTED BY</a:t>
            </a:r>
          </a:p>
        </p:txBody>
      </p:sp>
      <p:sp>
        <p:nvSpPr>
          <p:cNvPr id="33" name="TextBox 32"/>
          <p:cNvSpPr txBox="1"/>
          <p:nvPr/>
        </p:nvSpPr>
        <p:spPr>
          <a:xfrm>
            <a:off x="12258371" y="6583970"/>
            <a:ext cx="3168503" cy="400110"/>
          </a:xfrm>
          <a:prstGeom prst="rect">
            <a:avLst/>
          </a:prstGeom>
          <a:noFill/>
        </p:spPr>
        <p:txBody>
          <a:bodyPr wrap="square" rtlCol="0">
            <a:spAutoFit/>
          </a:bodyPr>
          <a:lstStyle/>
          <a:p>
            <a:r>
              <a:rPr lang="en-IN" sz="2000" b="1" dirty="0">
                <a:latin typeface="Times New Roman" pitchFamily="18" charset="0"/>
                <a:cs typeface="Times New Roman" pitchFamily="18" charset="0"/>
              </a:rPr>
              <a:t>SUPERVISED BY</a:t>
            </a:r>
          </a:p>
        </p:txBody>
      </p:sp>
      <p:sp>
        <p:nvSpPr>
          <p:cNvPr id="34" name="TextBox 33"/>
          <p:cNvSpPr txBox="1"/>
          <p:nvPr/>
        </p:nvSpPr>
        <p:spPr>
          <a:xfrm>
            <a:off x="12258371" y="7139982"/>
            <a:ext cx="5884154" cy="70788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Dr.N.R.RajaLakshmi</a:t>
            </a:r>
          </a:p>
          <a:p>
            <a:r>
              <a:rPr lang="en-US" sz="2000" spc="-55" dirty="0">
                <a:solidFill>
                  <a:srgbClr val="051D40"/>
                </a:solidFill>
                <a:latin typeface="Times New Roman" panose="02020603050405020304" pitchFamily="18" charset="0"/>
                <a:ea typeface="Poppins Bold"/>
                <a:cs typeface="Times New Roman" panose="02020603050405020304" pitchFamily="18" charset="0"/>
                <a:sym typeface="Poppins Bold"/>
              </a:rPr>
              <a:t>Professor</a:t>
            </a:r>
            <a:endParaRPr lang="en-IN" sz="2000" dirty="0"/>
          </a:p>
        </p:txBody>
      </p:sp>
      <p:sp>
        <p:nvSpPr>
          <p:cNvPr id="3" name="Slide Number Placeholder 2">
            <a:extLst>
              <a:ext uri="{FF2B5EF4-FFF2-40B4-BE49-F238E27FC236}">
                <a16:creationId xmlns:a16="http://schemas.microsoft.com/office/drawing/2014/main" id="{3A074ED6-CF7A-5721-E8DB-79CE15E720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dirty="0"/>
          </a:p>
        </p:txBody>
      </p:sp>
      <p:sp>
        <p:nvSpPr>
          <p:cNvPr id="4" name="Footer Placeholder 3">
            <a:extLst>
              <a:ext uri="{FF2B5EF4-FFF2-40B4-BE49-F238E27FC236}">
                <a16:creationId xmlns:a16="http://schemas.microsoft.com/office/drawing/2014/main" id="{A914398D-2412-FDBC-ACEE-C574CFD444F7}"/>
              </a:ext>
            </a:extLst>
          </p:cNvPr>
          <p:cNvSpPr>
            <a:spLocks noGrp="1"/>
          </p:cNvSpPr>
          <p:nvPr>
            <p:ph type="ftr" sz="quarter" idx="11"/>
          </p:nvPr>
        </p:nvSpPr>
        <p:spPr/>
        <p:txBody>
          <a:bodyPr/>
          <a:lstStyle/>
          <a:p>
            <a:r>
              <a:rPr lang="en-IN" dirty="0"/>
              <a:t>DEPARTMENT OF COMPUTER SCIENCE &amp; ENGINEERING   / PROJECT TITLE</a:t>
            </a:r>
          </a:p>
        </p:txBody>
      </p:sp>
      <p:sp>
        <p:nvSpPr>
          <p:cNvPr id="5" name="Date Placeholder 4">
            <a:extLst>
              <a:ext uri="{FF2B5EF4-FFF2-40B4-BE49-F238E27FC236}">
                <a16:creationId xmlns:a16="http://schemas.microsoft.com/office/drawing/2014/main" id="{0E3CE0F6-58C9-CD16-1564-53FAD958EF9E}"/>
              </a:ext>
            </a:extLst>
          </p:cNvPr>
          <p:cNvSpPr>
            <a:spLocks noGrp="1"/>
          </p:cNvSpPr>
          <p:nvPr>
            <p:ph type="dt" sz="half" idx="10"/>
          </p:nvPr>
        </p:nvSpPr>
        <p:spPr/>
        <p:txBody>
          <a:bodyPr/>
          <a:lstStyle/>
          <a:p>
            <a:fld id="{E4D1627A-24AB-481F-9D74-76C2593C9111}" type="datetime4">
              <a:rPr lang="en-US" smtClean="0"/>
              <a:pPr/>
              <a:t>November 10, 2025</a:t>
            </a:fld>
            <a:endParaRPr lang="en-US" dirty="0"/>
          </a:p>
        </p:txBody>
      </p:sp>
      <p:pic>
        <p:nvPicPr>
          <p:cNvPr id="14" name="Picture 13" descr="E:\WINDER SEM 2024-25\College Logo.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8292" y="375183"/>
            <a:ext cx="13314218" cy="13150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dirty="0"/>
          </a:p>
        </p:txBody>
      </p:sp>
      <p:sp>
        <p:nvSpPr>
          <p:cNvPr id="5" name="Rectangle 4"/>
          <p:cNvSpPr/>
          <p:nvPr/>
        </p:nvSpPr>
        <p:spPr>
          <a:xfrm>
            <a:off x="727362" y="359630"/>
            <a:ext cx="16521545" cy="8679299"/>
          </a:xfrm>
          <a:prstGeom prst="rect">
            <a:avLst/>
          </a:prstGeom>
        </p:spPr>
        <p:txBody>
          <a:bodyPr wrap="square">
            <a:spAutoFit/>
          </a:bodyPr>
          <a:lstStyle/>
          <a:p>
            <a:pPr>
              <a:lnSpc>
                <a:spcPct val="150000"/>
              </a:lnSpc>
            </a:pPr>
            <a:r>
              <a:rPr lang="en-IN" sz="3600" b="1" dirty="0">
                <a:latin typeface="Times New Roman" pitchFamily="18" charset="0"/>
                <a:cs typeface="Times New Roman" pitchFamily="18" charset="0"/>
              </a:rPr>
              <a:t>OVERVIEW </a:t>
            </a:r>
          </a:p>
          <a:p>
            <a:pPr lvl="1">
              <a:lnSpc>
                <a:spcPct val="150000"/>
              </a:lnSpc>
              <a:buFont typeface="Wingdings" pitchFamily="2" charset="2"/>
              <a:buChar char="q"/>
            </a:pPr>
            <a:r>
              <a:rPr lang="en-IN" sz="2400" dirty="0">
                <a:latin typeface="Times New Roman" pitchFamily="18" charset="0"/>
                <a:cs typeface="Times New Roman" pitchFamily="18" charset="0"/>
              </a:rPr>
              <a:t>ABSTRACT</a:t>
            </a:r>
          </a:p>
          <a:p>
            <a:pPr lvl="1">
              <a:lnSpc>
                <a:spcPct val="150000"/>
              </a:lnSpc>
              <a:buFont typeface="Wingdings" pitchFamily="2" charset="2"/>
              <a:buChar char="q"/>
            </a:pPr>
            <a:r>
              <a:rPr lang="en-IN" sz="2400" dirty="0">
                <a:latin typeface="Times New Roman" pitchFamily="18" charset="0"/>
                <a:cs typeface="Times New Roman" pitchFamily="18" charset="0"/>
              </a:rPr>
              <a:t>OBJECTIVE</a:t>
            </a:r>
          </a:p>
          <a:p>
            <a:pPr lvl="1">
              <a:lnSpc>
                <a:spcPct val="150000"/>
              </a:lnSpc>
              <a:buFont typeface="Wingdings" pitchFamily="2" charset="2"/>
              <a:buChar char="q"/>
            </a:pPr>
            <a:r>
              <a:rPr lang="en-IN" sz="2400" dirty="0">
                <a:latin typeface="Times New Roman" pitchFamily="18" charset="0"/>
                <a:cs typeface="Times New Roman" pitchFamily="18" charset="0"/>
              </a:rPr>
              <a:t>INTRODUCTION</a:t>
            </a:r>
          </a:p>
          <a:p>
            <a:pPr lvl="1">
              <a:lnSpc>
                <a:spcPct val="150000"/>
              </a:lnSpc>
              <a:buFont typeface="Wingdings" pitchFamily="2" charset="2"/>
              <a:buChar char="q"/>
            </a:pPr>
            <a:r>
              <a:rPr lang="en-IN" sz="2400" dirty="0">
                <a:latin typeface="Times New Roman" pitchFamily="18" charset="0"/>
                <a:cs typeface="Times New Roman" pitchFamily="18" charset="0"/>
              </a:rPr>
              <a:t>LITERATURE REVIEW (SOFT COPY OF PAPERS TO BE LINKED AS HYPERLINK)</a:t>
            </a:r>
          </a:p>
          <a:p>
            <a:pPr lvl="1">
              <a:lnSpc>
                <a:spcPct val="150000"/>
              </a:lnSpc>
              <a:buFont typeface="Wingdings" pitchFamily="2" charset="2"/>
              <a:buChar char="q"/>
            </a:pPr>
            <a:r>
              <a:rPr lang="en-IN" sz="2400" dirty="0">
                <a:latin typeface="Times New Roman" pitchFamily="18" charset="0"/>
                <a:cs typeface="Times New Roman" pitchFamily="18" charset="0"/>
              </a:rPr>
              <a:t>DESIGN AND METHODOLOGIES</a:t>
            </a:r>
          </a:p>
          <a:p>
            <a:pPr lvl="1">
              <a:lnSpc>
                <a:spcPct val="150000"/>
              </a:lnSpc>
              <a:buFont typeface="Wingdings" pitchFamily="2" charset="2"/>
              <a:buChar char="q"/>
            </a:pPr>
            <a:r>
              <a:rPr lang="en-IN" sz="2400" dirty="0">
                <a:latin typeface="Times New Roman" pitchFamily="18" charset="0"/>
                <a:cs typeface="Times New Roman" pitchFamily="18" charset="0"/>
              </a:rPr>
              <a:t>IMPLEMENTATION</a:t>
            </a:r>
          </a:p>
          <a:p>
            <a:pPr lvl="1">
              <a:lnSpc>
                <a:spcPct val="150000"/>
              </a:lnSpc>
              <a:buFont typeface="Wingdings" pitchFamily="2" charset="2"/>
              <a:buChar char="q"/>
            </a:pPr>
            <a:r>
              <a:rPr lang="en-IN" sz="2400" dirty="0">
                <a:latin typeface="Times New Roman" pitchFamily="18" charset="0"/>
                <a:cs typeface="Times New Roman" pitchFamily="18" charset="0"/>
              </a:rPr>
              <a:t>TESTING</a:t>
            </a:r>
          </a:p>
          <a:p>
            <a:pPr lvl="1">
              <a:lnSpc>
                <a:spcPct val="150000"/>
              </a:lnSpc>
              <a:buFont typeface="Wingdings" pitchFamily="2" charset="2"/>
              <a:buChar char="q"/>
            </a:pPr>
            <a:r>
              <a:rPr lang="en-IN" sz="2400" dirty="0">
                <a:latin typeface="Times New Roman" pitchFamily="18" charset="0"/>
                <a:cs typeface="Times New Roman" pitchFamily="18" charset="0"/>
              </a:rPr>
              <a:t>INPUT AND OUTPUT</a:t>
            </a:r>
          </a:p>
          <a:p>
            <a:pPr lvl="1">
              <a:lnSpc>
                <a:spcPct val="150000"/>
              </a:lnSpc>
              <a:buFont typeface="Wingdings" pitchFamily="2" charset="2"/>
              <a:buChar char="q"/>
            </a:pPr>
            <a:r>
              <a:rPr lang="en-IN" sz="2400" dirty="0">
                <a:latin typeface="Times New Roman" pitchFamily="18" charset="0"/>
                <a:cs typeface="Times New Roman" pitchFamily="18" charset="0"/>
              </a:rPr>
              <a:t>INCLUDE DEMO VIDEO-1 (Till REVEW-1)</a:t>
            </a:r>
          </a:p>
          <a:p>
            <a:pPr lvl="1">
              <a:lnSpc>
                <a:spcPct val="150000"/>
              </a:lnSpc>
              <a:buFont typeface="Wingdings" pitchFamily="2" charset="2"/>
              <a:buChar char="q"/>
            </a:pPr>
            <a:r>
              <a:rPr lang="en-IN" sz="2400" dirty="0">
                <a:latin typeface="Times New Roman" pitchFamily="18" charset="0"/>
                <a:cs typeface="Times New Roman" pitchFamily="18" charset="0"/>
              </a:rPr>
              <a:t>INCLUDE DEMO VIDEO-2(Complete Implementation of Project)</a:t>
            </a:r>
          </a:p>
          <a:p>
            <a:pPr lvl="1">
              <a:lnSpc>
                <a:spcPct val="150000"/>
              </a:lnSpc>
              <a:buFont typeface="Wingdings" pitchFamily="2" charset="2"/>
              <a:buChar char="q"/>
            </a:pPr>
            <a:r>
              <a:rPr lang="en-IN" sz="2400" dirty="0">
                <a:latin typeface="Times New Roman" pitchFamily="18" charset="0"/>
                <a:cs typeface="Times New Roman" pitchFamily="18" charset="0"/>
              </a:rPr>
              <a:t>CONCLUSION</a:t>
            </a:r>
          </a:p>
          <a:p>
            <a:pPr lvl="1">
              <a:lnSpc>
                <a:spcPct val="150000"/>
              </a:lnSpc>
              <a:buFont typeface="Wingdings" pitchFamily="2" charset="2"/>
              <a:buChar char="q"/>
            </a:pPr>
            <a:r>
              <a:rPr lang="en-IN" sz="2400" dirty="0">
                <a:latin typeface="Times New Roman" pitchFamily="18" charset="0"/>
                <a:cs typeface="Times New Roman" pitchFamily="18" charset="0"/>
              </a:rPr>
              <a:t>WEB REFERENCES LINK (TILL REVIEW DATE ALL LINKS TO BE INCLUDED DAY WISE)</a:t>
            </a:r>
          </a:p>
          <a:p>
            <a:pPr lvl="1">
              <a:lnSpc>
                <a:spcPct val="150000"/>
              </a:lnSpc>
              <a:buFont typeface="Wingdings" pitchFamily="2" charset="2"/>
              <a:buChar char="q"/>
            </a:pPr>
            <a:r>
              <a:rPr lang="en-IN" sz="2400" dirty="0">
                <a:latin typeface="Times New Roman" pitchFamily="18" charset="0"/>
                <a:cs typeface="Times New Roman" pitchFamily="18" charset="0"/>
              </a:rPr>
              <a:t>PLAGIARISM REPORT OF PPT</a:t>
            </a:r>
          </a:p>
          <a:p>
            <a:pPr lvl="1">
              <a:lnSpc>
                <a:spcPct val="150000"/>
              </a:lnSpc>
              <a:buFont typeface="Wingdings" pitchFamily="2" charset="2"/>
              <a:buChar char="q"/>
            </a:pPr>
            <a:r>
              <a:rPr lang="en-IN" sz="2400" dirty="0">
                <a:latin typeface="Times New Roman" pitchFamily="18" charset="0"/>
                <a:cs typeface="Times New Roman"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dirty="0"/>
          </a:p>
        </p:txBody>
      </p:sp>
      <p:sp>
        <p:nvSpPr>
          <p:cNvPr id="5" name="Rectangle 4"/>
          <p:cNvSpPr/>
          <p:nvPr/>
        </p:nvSpPr>
        <p:spPr>
          <a:xfrm>
            <a:off x="191729" y="389205"/>
            <a:ext cx="17919290" cy="8531631"/>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ABSTRACT</a:t>
            </a:r>
            <a:endParaRPr lang="en-IN" sz="3200" b="1" dirty="0">
              <a:latin typeface="Times New Roman" pitchFamily="18" charset="0"/>
              <a:cs typeface="Times New Roman" pitchFamily="18" charset="0"/>
            </a:endParaRP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Introduction:</a:t>
            </a:r>
          </a:p>
          <a:p>
            <a:pPr lvl="1" algn="just">
              <a:lnSpc>
                <a:spcPct val="150000"/>
              </a:lnSpc>
            </a:pPr>
            <a:r>
              <a:rPr lang="en-US" sz="2000" dirty="0">
                <a:latin typeface="Times New Roman" pitchFamily="18" charset="0"/>
                <a:cs typeface="Times New Roman" pitchFamily="18" charset="0"/>
              </a:rPr>
              <a:t>Bone fractures are one of the most common medical issues that require quick and accurate diagnosis. Traditional fracture detection relies on doctors manually examining X-ray images, which can be time-consuming. This project introduces an AI-based approach to assist in faster and more reliable fracture identification.</a:t>
            </a: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Purpose:</a:t>
            </a:r>
          </a:p>
          <a:p>
            <a:pPr lvl="1" algn="just">
              <a:lnSpc>
                <a:spcPct val="150000"/>
              </a:lnSpc>
            </a:pPr>
            <a:r>
              <a:rPr lang="en-US" sz="2000" dirty="0">
                <a:latin typeface="Times New Roman" pitchFamily="18" charset="0"/>
                <a:cs typeface="Times New Roman" pitchFamily="18" charset="0"/>
              </a:rPr>
              <a:t>The main goal of this project is to design an intelligent healthcare system that can automatically detect bone fractures from X-ray images. It also aims to provide a secure web platform for patients to upload X-rays and share results with doctors for further analysis.</a:t>
            </a: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Method</a:t>
            </a:r>
            <a:r>
              <a:rPr lang="en-US" sz="2400" b="1" dirty="0">
                <a:latin typeface="Times New Roman" pitchFamily="18" charset="0"/>
                <a:cs typeface="Times New Roman" pitchFamily="18" charset="0"/>
              </a:rPr>
              <a:t>:</a:t>
            </a:r>
          </a:p>
          <a:p>
            <a:pPr lvl="1" algn="just">
              <a:lnSpc>
                <a:spcPct val="150000"/>
              </a:lnSpc>
            </a:pPr>
            <a:r>
              <a:rPr lang="en-US" sz="2000" dirty="0">
                <a:latin typeface="Times New Roman" pitchFamily="18" charset="0"/>
                <a:cs typeface="Times New Roman" pitchFamily="18" charset="0"/>
              </a:rPr>
              <a:t>The system is built using Python and Django, integrating the YOLO (You Only Look Once) deep learning algorithm for real-time fracture detection. Uploaded X-ray images are processed, analyzed, and stored in a MySQL database with encrypted user details. The web interface allows patients and doctors to interact easily and manage reports efficiently.</a:t>
            </a:r>
            <a:endParaRPr lang="en-US" sz="2000" b="1" dirty="0">
              <a:latin typeface="Times New Roman" pitchFamily="18" charset="0"/>
              <a:cs typeface="Times New Roman" pitchFamily="18" charset="0"/>
            </a:endParaRP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Result:</a:t>
            </a:r>
          </a:p>
          <a:p>
            <a:pPr lvl="1" algn="just">
              <a:lnSpc>
                <a:spcPct val="150000"/>
              </a:lnSpc>
            </a:pPr>
            <a:r>
              <a:rPr lang="en-US" sz="2000" dirty="0">
                <a:latin typeface="Times New Roman" pitchFamily="18" charset="0"/>
                <a:cs typeface="Times New Roman" pitchFamily="18" charset="0"/>
              </a:rPr>
              <a:t>The developed system successfully detects fractures, identifies their type and severity, and highlights the affected area with bounding boxes. It offers a user-friendly interface for both patients and doctors, improving the accessibility and speed of medical diagnosis.</a:t>
            </a:r>
          </a:p>
          <a:p>
            <a:pPr marL="742950" lvl="1" indent="-285750" algn="just">
              <a:lnSpc>
                <a:spcPct val="150000"/>
              </a:lnSpc>
              <a:buFont typeface="Wingdings" panose="05000000000000000000" pitchFamily="2" charset="2"/>
              <a:buChar char="Ø"/>
            </a:pPr>
            <a:r>
              <a:rPr lang="en-US" sz="2200" b="1" dirty="0">
                <a:latin typeface="Times New Roman" pitchFamily="18" charset="0"/>
                <a:cs typeface="Times New Roman" pitchFamily="18" charset="0"/>
              </a:rPr>
              <a:t>Conclusion:</a:t>
            </a:r>
          </a:p>
          <a:p>
            <a:pPr lvl="1" algn="just">
              <a:lnSpc>
                <a:spcPct val="150000"/>
              </a:lnSpc>
            </a:pPr>
            <a:r>
              <a:rPr lang="en-US" sz="2000" dirty="0">
                <a:latin typeface="Times New Roman" pitchFamily="18" charset="0"/>
                <a:cs typeface="Times New Roman" pitchFamily="18" charset="0"/>
              </a:rPr>
              <a:t>This project demonstrates how deep learning can effectively support healthcare by providing fast and accurate fracture detection. It ensures secure data handling and better communication between patients and doctors, promoting the use of AI in smart medical diagnosis.</a:t>
            </a:r>
            <a:endParaRPr lang="en-IN" sz="2000" b="1"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dirty="0"/>
          </a:p>
        </p:txBody>
      </p:sp>
      <p:sp>
        <p:nvSpPr>
          <p:cNvPr id="5" name="Rectangle 4"/>
          <p:cNvSpPr/>
          <p:nvPr/>
        </p:nvSpPr>
        <p:spPr>
          <a:xfrm>
            <a:off x="806898" y="451550"/>
            <a:ext cx="16940775" cy="823752"/>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OBJECTIVES</a:t>
            </a:r>
          </a:p>
        </p:txBody>
      </p:sp>
      <p:sp>
        <p:nvSpPr>
          <p:cNvPr id="6" name="Rectangle 5"/>
          <p:cNvSpPr/>
          <p:nvPr/>
        </p:nvSpPr>
        <p:spPr>
          <a:xfrm>
            <a:off x="703658" y="1797648"/>
            <a:ext cx="16596199" cy="7355860"/>
          </a:xfrm>
          <a:prstGeom prst="rect">
            <a:avLst/>
          </a:prstGeom>
        </p:spPr>
        <p:txBody>
          <a:bodyPr wrap="square">
            <a:spAutoFit/>
          </a:bodyPr>
          <a:lstStyle/>
          <a:p>
            <a:pPr marL="457200" indent="-457200" algn="just">
              <a:buAutoNum type="arabicPeriod"/>
            </a:pPr>
            <a:r>
              <a:rPr lang="en-US" sz="2400" b="1" dirty="0">
                <a:latin typeface="Times New Roman" panose="02020603050405020304" pitchFamily="18" charset="0"/>
                <a:cs typeface="Times New Roman" panose="02020603050405020304" pitchFamily="18" charset="0"/>
              </a:rPr>
              <a:t>Aim of the Project</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Develop Deep Learning Detection: Create a system to automatically detect bone fractures from X-ray images, accelerating the initial diagnostic screening process, particularly in critical Emergency Room settings.</a:t>
            </a:r>
          </a:p>
          <a:p>
            <a:pPr marL="342900" indent="-342900" algn="jus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Utilize YOLO for Localization: Employ the YOLO deep learning algorithm for accurate and real-time object detection, crucial for quickly localizing fractures and indicating severity using bounding boxes.</a:t>
            </a:r>
          </a:p>
          <a:p>
            <a:pPr marL="342900" indent="-342900" algn="jus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Build Secure Web Platform: Construct a reliable, secure web platform to connect patients and doctors, establishing an efficient digital pipeline for medical records and improving patient-doctor interaction.</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2. Scope of the Project</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ea typeface="Tahoma" panose="020B0604030504040204" pitchFamily="34" charset="0"/>
                <a:cs typeface="Times New Roman" panose="02020603050405020304" pitchFamily="18" charset="0"/>
              </a:rPr>
              <a:t>Secure Patient Data Control: Patients securely upload X-rays and share them by explicitly selecting a doctor to grant viewing permission, maintaining absolute control over their medical data.</a:t>
            </a:r>
          </a:p>
          <a:p>
            <a:pPr marL="342900" indent="-342900" algn="just">
              <a:buFont typeface="Wingdings" panose="05000000000000000000" pitchFamily="2" charset="2"/>
              <a:buChar char="Ø"/>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ea typeface="Tahoma" panose="020B0604030504040204" pitchFamily="34" charset="0"/>
                <a:cs typeface="Times New Roman" panose="02020603050405020304" pitchFamily="18" charset="0"/>
              </a:rPr>
              <a:t>Clinical Diagnostic Assistance: The system analyzes X-ray images to identify the type and severity of bone fractures. Authorized doctors review the AI-assisted reports to provide final prescriptions or suggestions.</a:t>
            </a:r>
          </a:p>
          <a:p>
            <a:pPr marL="342900" indent="-342900" algn="just">
              <a:buFont typeface="Wingdings" panose="05000000000000000000" pitchFamily="2" charset="2"/>
              <a:buChar char="Ø"/>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buFont typeface="Wingdings" panose="05000000000000000000" pitchFamily="2" charset="2"/>
              <a:buChar char="Ø"/>
            </a:pPr>
            <a:r>
              <a:rPr lang="en-US" sz="2200" dirty="0">
                <a:latin typeface="Times New Roman" panose="02020603050405020304" pitchFamily="18" charset="0"/>
                <a:ea typeface="Tahoma" panose="020B0604030504040204" pitchFamily="34" charset="0"/>
                <a:cs typeface="Times New Roman" panose="02020603050405020304" pitchFamily="18" charset="0"/>
              </a:rPr>
              <a:t>Mandatory Data Security: Data privacy is ensured through password encryption for all users (doctor and patient), storing credentials in encrypted formats to ensure a safe medical environment.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Minor project-1</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dirty="0"/>
          </a:p>
        </p:txBody>
      </p:sp>
      <p:sp>
        <p:nvSpPr>
          <p:cNvPr id="8" name="Rectangle 7"/>
          <p:cNvSpPr/>
          <p:nvPr/>
        </p:nvSpPr>
        <p:spPr>
          <a:xfrm>
            <a:off x="5563955" y="698561"/>
            <a:ext cx="6635343" cy="646331"/>
          </a:xfrm>
          <a:prstGeom prst="rect">
            <a:avLst/>
          </a:prstGeom>
        </p:spPr>
        <p:txBody>
          <a:bodyPr wrap="none">
            <a:spAutoFit/>
          </a:bodyPr>
          <a:lstStyle/>
          <a:p>
            <a:r>
              <a:rPr lang="en-IN" sz="3600" b="1" dirty="0">
                <a:latin typeface="Times New Roman" pitchFamily="18" charset="0"/>
                <a:cs typeface="Times New Roman" pitchFamily="18" charset="0"/>
              </a:rPr>
              <a:t>TIMELINE OF THE PROJECT</a:t>
            </a:r>
            <a:endParaRPr lang="en-IN" sz="3600" dirty="0"/>
          </a:p>
        </p:txBody>
      </p:sp>
      <p:pic>
        <p:nvPicPr>
          <p:cNvPr id="205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938288"/>
            <a:ext cx="10815629" cy="6457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9500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dirty="0"/>
          </a:p>
        </p:txBody>
      </p:sp>
      <p:sp>
        <p:nvSpPr>
          <p:cNvPr id="5" name="Rectangle 4"/>
          <p:cNvSpPr/>
          <p:nvPr/>
        </p:nvSpPr>
        <p:spPr>
          <a:xfrm>
            <a:off x="257755" y="347641"/>
            <a:ext cx="17739300" cy="823752"/>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INTRODUCTION</a:t>
            </a:r>
          </a:p>
        </p:txBody>
      </p:sp>
      <p:sp>
        <p:nvSpPr>
          <p:cNvPr id="6" name="Rectangle 5"/>
          <p:cNvSpPr/>
          <p:nvPr/>
        </p:nvSpPr>
        <p:spPr>
          <a:xfrm>
            <a:off x="771212" y="1404015"/>
            <a:ext cx="16227644" cy="7478970"/>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Bone fractures occur frequently due to accidents, sports injuries, and age-related bone problems, making fracture diagnosis a crucial medical procedure worldwide.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Manual examination of X-ray images requires expert skills and can sometimes lead to delays in treatment, especially in rural or emergency conditions where specialists are not immediately available.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Artificial Intelligence and Deep Learning have shown significant improvements in automating medical image analysis by detecting visual patterns that may be difficult to identify quickly with the human eye.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YOLO (You Only Look Once), a fast and highly accurate object detection algorithm, is well-suited for real-time medical assistance by detecting and highlighting fracture regions in X-ray images.</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integrates the YOLO model into a secure web platform, enabling patients to upload their X-rays and doctors to access AI-generated reports from anywhere at any time.</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not only detects the presence of fractures but also provides details like fracture location and severity, helping doctors make better and quicker decisions.</a:t>
            </a:r>
          </a:p>
          <a:p>
            <a:pPr marL="457200" indent="-4572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combining modern AI technology and digital healthcare services, the project improves diagnosis efficiency, accessibility, data security, and patient–doctor communication.</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dirty="0"/>
          </a:p>
        </p:txBody>
      </p:sp>
      <p:sp>
        <p:nvSpPr>
          <p:cNvPr id="5" name="Rectangle 4"/>
          <p:cNvSpPr/>
          <p:nvPr/>
        </p:nvSpPr>
        <p:spPr>
          <a:xfrm>
            <a:off x="553667" y="576241"/>
            <a:ext cx="16861497" cy="823752"/>
          </a:xfrm>
          <a:prstGeom prst="rect">
            <a:avLst/>
          </a:prstGeom>
        </p:spPr>
        <p:txBody>
          <a:bodyPr wrap="square">
            <a:spAutoFit/>
          </a:bodyPr>
          <a:lstStyle/>
          <a:p>
            <a:pPr lvl="1" algn="ctr">
              <a:lnSpc>
                <a:spcPct val="150000"/>
              </a:lnSpc>
            </a:pPr>
            <a:r>
              <a:rPr lang="en-IN" sz="3600" b="1" dirty="0">
                <a:latin typeface="Times New Roman" pitchFamily="18" charset="0"/>
                <a:cs typeface="Times New Roman" pitchFamily="18" charset="0"/>
              </a:rPr>
              <a:t>LITERATURE REVIEW</a:t>
            </a:r>
          </a:p>
        </p:txBody>
      </p:sp>
      <p:graphicFrame>
        <p:nvGraphicFramePr>
          <p:cNvPr id="9" name="Table 8"/>
          <p:cNvGraphicFramePr>
            <a:graphicFrameLocks noGrp="1"/>
          </p:cNvGraphicFramePr>
          <p:nvPr>
            <p:extLst>
              <p:ext uri="{D42A27DB-BD31-4B8C-83A1-F6EECF244321}">
                <p14:modId xmlns:p14="http://schemas.microsoft.com/office/powerpoint/2010/main" val="3202463284"/>
              </p:ext>
            </p:extLst>
          </p:nvPr>
        </p:nvGraphicFramePr>
        <p:xfrm>
          <a:off x="147485" y="1399995"/>
          <a:ext cx="17862695" cy="8110699"/>
        </p:xfrm>
        <a:graphic>
          <a:graphicData uri="http://schemas.openxmlformats.org/drawingml/2006/table">
            <a:tbl>
              <a:tblPr firstRow="1" bandRow="1">
                <a:tableStyleId>{5C22544A-7EE6-4342-B048-85BDC9FD1C3A}</a:tableStyleId>
              </a:tblPr>
              <a:tblGrid>
                <a:gridCol w="1203983">
                  <a:extLst>
                    <a:ext uri="{9D8B030D-6E8A-4147-A177-3AD203B41FA5}">
                      <a16:colId xmlns:a16="http://schemas.microsoft.com/office/drawing/2014/main" val="20000"/>
                    </a:ext>
                  </a:extLst>
                </a:gridCol>
                <a:gridCol w="3353267">
                  <a:extLst>
                    <a:ext uri="{9D8B030D-6E8A-4147-A177-3AD203B41FA5}">
                      <a16:colId xmlns:a16="http://schemas.microsoft.com/office/drawing/2014/main" val="20001"/>
                    </a:ext>
                  </a:extLst>
                </a:gridCol>
                <a:gridCol w="6904171">
                  <a:extLst>
                    <a:ext uri="{9D8B030D-6E8A-4147-A177-3AD203B41FA5}">
                      <a16:colId xmlns:a16="http://schemas.microsoft.com/office/drawing/2014/main" val="20002"/>
                    </a:ext>
                  </a:extLst>
                </a:gridCol>
                <a:gridCol w="1354926">
                  <a:extLst>
                    <a:ext uri="{9D8B030D-6E8A-4147-A177-3AD203B41FA5}">
                      <a16:colId xmlns:a16="http://schemas.microsoft.com/office/drawing/2014/main" val="20003"/>
                    </a:ext>
                  </a:extLst>
                </a:gridCol>
                <a:gridCol w="5046348">
                  <a:extLst>
                    <a:ext uri="{9D8B030D-6E8A-4147-A177-3AD203B41FA5}">
                      <a16:colId xmlns:a16="http://schemas.microsoft.com/office/drawing/2014/main" val="20004"/>
                    </a:ext>
                  </a:extLst>
                </a:gridCol>
              </a:tblGrid>
              <a:tr h="1815277">
                <a:tc>
                  <a:txBody>
                    <a:bodyPr/>
                    <a:lstStyle/>
                    <a:p>
                      <a:pPr algn="ctr"/>
                      <a:r>
                        <a:rPr lang="en-IN" sz="3200" dirty="0" err="1"/>
                        <a:t>Sl.No</a:t>
                      </a:r>
                      <a:endParaRPr lang="en-IN" sz="3200" dirty="0"/>
                    </a:p>
                  </a:txBody>
                  <a:tcPr/>
                </a:tc>
                <a:tc>
                  <a:txBody>
                    <a:bodyPr/>
                    <a:lstStyle/>
                    <a:p>
                      <a:pPr algn="ctr"/>
                      <a:r>
                        <a:rPr lang="en-IN" sz="3200" dirty="0"/>
                        <a:t>Author’s Name</a:t>
                      </a:r>
                    </a:p>
                  </a:txBody>
                  <a:tcPr/>
                </a:tc>
                <a:tc>
                  <a:txBody>
                    <a:bodyPr/>
                    <a:lstStyle/>
                    <a:p>
                      <a:pPr algn="ctr"/>
                      <a:r>
                        <a:rPr lang="en-IN" sz="3200" dirty="0"/>
                        <a:t>Paper name and</a:t>
                      </a:r>
                      <a:r>
                        <a:rPr lang="en-IN" sz="3200" baseline="0" dirty="0"/>
                        <a:t> publication details</a:t>
                      </a:r>
                      <a:endParaRPr lang="en-IN" sz="3200" dirty="0"/>
                    </a:p>
                  </a:txBody>
                  <a:tcPr/>
                </a:tc>
                <a:tc>
                  <a:txBody>
                    <a:bodyPr/>
                    <a:lstStyle/>
                    <a:p>
                      <a:pPr algn="ctr"/>
                      <a:r>
                        <a:rPr lang="en-IN" sz="3200" dirty="0"/>
                        <a:t>Year </a:t>
                      </a:r>
                      <a:r>
                        <a:rPr lang="en-IN" sz="3200" baseline="0" dirty="0"/>
                        <a:t> of publication</a:t>
                      </a:r>
                      <a:endParaRPr lang="en-IN" sz="3200" dirty="0"/>
                    </a:p>
                  </a:txBody>
                  <a:tcPr/>
                </a:tc>
                <a:tc>
                  <a:txBody>
                    <a:bodyPr/>
                    <a:lstStyle/>
                    <a:p>
                      <a:pPr algn="ctr"/>
                      <a:r>
                        <a:rPr lang="en-IN" sz="3200" dirty="0"/>
                        <a:t>Main content of the paper</a:t>
                      </a:r>
                    </a:p>
                  </a:txBody>
                  <a:tcPr/>
                </a:tc>
                <a:extLst>
                  <a:ext uri="{0D108BD9-81ED-4DB2-BD59-A6C34878D82A}">
                    <a16:rowId xmlns:a16="http://schemas.microsoft.com/office/drawing/2014/main" val="10000"/>
                  </a:ext>
                </a:extLst>
              </a:tr>
              <a:tr h="2238194">
                <a:tc>
                  <a:txBody>
                    <a:bodyPr/>
                    <a:lstStyle/>
                    <a:p>
                      <a:pPr algn="just"/>
                      <a:r>
                        <a:rPr lang="en-IN" sz="2300" dirty="0">
                          <a:latin typeface="Times New Roman" panose="02020603050405020304" pitchFamily="18" charset="0"/>
                          <a:cs typeface="Times New Roman" panose="02020603050405020304" pitchFamily="18" charset="0"/>
                        </a:rPr>
                        <a:t>1</a:t>
                      </a:r>
                    </a:p>
                  </a:txBody>
                  <a:tcPr/>
                </a:tc>
                <a:tc>
                  <a:txBody>
                    <a:bodyPr/>
                    <a:lstStyle/>
                    <a:p>
                      <a:pPr algn="just"/>
                      <a:r>
                        <a:rPr lang="en-IN" sz="2300" dirty="0">
                          <a:latin typeface="Times New Roman" panose="02020603050405020304" pitchFamily="18" charset="0"/>
                          <a:cs typeface="Times New Roman" panose="02020603050405020304" pitchFamily="18" charset="0"/>
                        </a:rPr>
                        <a:t>A. Kutbi, A. Al-</a:t>
                      </a:r>
                      <a:r>
                        <a:rPr lang="en-IN" sz="2300" dirty="0" err="1">
                          <a:latin typeface="Times New Roman" panose="02020603050405020304" pitchFamily="18" charset="0"/>
                          <a:cs typeface="Times New Roman" panose="02020603050405020304" pitchFamily="18" charset="0"/>
                        </a:rPr>
                        <a:t>Saggaf</a:t>
                      </a:r>
                      <a:r>
                        <a:rPr lang="en-IN" sz="2300" dirty="0">
                          <a:latin typeface="Times New Roman" panose="02020603050405020304" pitchFamily="18" charset="0"/>
                          <a:cs typeface="Times New Roman" panose="02020603050405020304" pitchFamily="18" charset="0"/>
                        </a:rPr>
                        <a:t>, and A. M. Al-Ahmadi</a:t>
                      </a:r>
                    </a:p>
                  </a:txBody>
                  <a:tcPr/>
                </a:tc>
                <a:tc>
                  <a:txBody>
                    <a:bodyPr/>
                    <a:lstStyle/>
                    <a:p>
                      <a:pPr algn="just"/>
                      <a:r>
                        <a:rPr lang="en-IN" sz="2300" dirty="0">
                          <a:latin typeface="Times New Roman" panose="02020603050405020304" pitchFamily="18" charset="0"/>
                          <a:cs typeface="Times New Roman" panose="02020603050405020304" pitchFamily="18" charset="0"/>
                        </a:rPr>
                        <a:t>“Artificial intelligence-based applications for bone fracture detection: A systematic review,” </a:t>
                      </a:r>
                      <a:r>
                        <a:rPr lang="en-IN" sz="2300" i="1" dirty="0">
                          <a:latin typeface="Times New Roman" panose="02020603050405020304" pitchFamily="18" charset="0"/>
                          <a:cs typeface="Times New Roman" panose="02020603050405020304" pitchFamily="18" charset="0"/>
                        </a:rPr>
                        <a:t>Healthcare</a:t>
                      </a:r>
                      <a:r>
                        <a:rPr lang="en-IN" sz="2300" dirty="0">
                          <a:latin typeface="Times New Roman" panose="02020603050405020304" pitchFamily="18" charset="0"/>
                          <a:cs typeface="Times New Roman" panose="02020603050405020304" pitchFamily="18" charset="0"/>
                        </a:rPr>
                        <a:t>, vol. 12, no. 3, pp. 309–325,2024</a:t>
                      </a:r>
                    </a:p>
                  </a:txBody>
                  <a:tcPr/>
                </a:tc>
                <a:tc>
                  <a:txBody>
                    <a:bodyPr/>
                    <a:lstStyle/>
                    <a:p>
                      <a:pPr algn="just"/>
                      <a:r>
                        <a:rPr lang="en-US" sz="2300" dirty="0">
                          <a:latin typeface="Times New Roman" panose="02020603050405020304" pitchFamily="18" charset="0"/>
                          <a:cs typeface="Times New Roman" panose="02020603050405020304" pitchFamily="18" charset="0"/>
                        </a:rPr>
                        <a:t>2024</a:t>
                      </a:r>
                      <a:endParaRPr lang="en-IN" sz="2300" dirty="0">
                        <a:latin typeface="Times New Roman" panose="02020603050405020304" pitchFamily="18" charset="0"/>
                        <a:cs typeface="Times New Roman" panose="02020603050405020304" pitchFamily="18" charset="0"/>
                      </a:endParaRPr>
                    </a:p>
                  </a:txBody>
                  <a:tcPr/>
                </a:tc>
                <a:tc>
                  <a:txBody>
                    <a:bodyPr/>
                    <a:lstStyle/>
                    <a:p>
                      <a:pPr algn="just"/>
                      <a:r>
                        <a:rPr lang="en-US" sz="2300" b="0" dirty="0">
                          <a:latin typeface="Times New Roman" panose="02020603050405020304" pitchFamily="18" charset="0"/>
                          <a:cs typeface="Times New Roman" panose="02020603050405020304" pitchFamily="18" charset="0"/>
                        </a:rPr>
                        <a:t>A survey of existing fracture detection methods, which helped to identify the current gaps in solutions that this project aims to address.</a:t>
                      </a:r>
                      <a:endParaRPr lang="en-IN" sz="23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910105">
                <a:tc>
                  <a:txBody>
                    <a:bodyPr/>
                    <a:lstStyle/>
                    <a:p>
                      <a:pPr algn="just"/>
                      <a:r>
                        <a:rPr lang="en-IN" sz="2300" dirty="0">
                          <a:latin typeface="Times New Roman" panose="02020603050405020304" pitchFamily="18" charset="0"/>
                          <a:cs typeface="Times New Roman" panose="02020603050405020304" pitchFamily="18" charset="0"/>
                        </a:rPr>
                        <a:t>2</a:t>
                      </a:r>
                    </a:p>
                  </a:txBody>
                  <a:tcPr/>
                </a:tc>
                <a:tc>
                  <a:txBody>
                    <a:bodyPr/>
                    <a:lstStyle/>
                    <a:p>
                      <a:pPr algn="just"/>
                      <a:r>
                        <a:rPr lang="en-IN" sz="2300" dirty="0">
                          <a:latin typeface="Times New Roman" panose="02020603050405020304" pitchFamily="18" charset="0"/>
                          <a:cs typeface="Times New Roman" panose="02020603050405020304" pitchFamily="18" charset="0"/>
                        </a:rPr>
                        <a:t>L. Su, Y. Wang, and H. Chen</a:t>
                      </a:r>
                    </a:p>
                  </a:txBody>
                  <a:tcPr/>
                </a:tc>
                <a:tc>
                  <a:txBody>
                    <a:bodyPr/>
                    <a:lstStyle/>
                    <a:p>
                      <a:pPr algn="just"/>
                      <a:r>
                        <a:rPr lang="en-IN" sz="2300" dirty="0">
                          <a:latin typeface="Times New Roman" panose="02020603050405020304" pitchFamily="18" charset="0"/>
                          <a:cs typeface="Times New Roman" panose="02020603050405020304" pitchFamily="18" charset="0"/>
                        </a:rPr>
                        <a:t>“Skeletal fracture detection with deep learning: A comprehensive review,” </a:t>
                      </a:r>
                      <a:r>
                        <a:rPr lang="en-IN" sz="2300" i="1" dirty="0">
                          <a:latin typeface="Times New Roman" panose="02020603050405020304" pitchFamily="18" charset="0"/>
                          <a:cs typeface="Times New Roman" panose="02020603050405020304" pitchFamily="18" charset="0"/>
                        </a:rPr>
                        <a:t>Frontiers in Radiology</a:t>
                      </a:r>
                      <a:r>
                        <a:rPr lang="en-IN" sz="2300" dirty="0">
                          <a:latin typeface="Times New Roman" panose="02020603050405020304" pitchFamily="18" charset="0"/>
                          <a:cs typeface="Times New Roman" panose="02020603050405020304" pitchFamily="18" charset="0"/>
                        </a:rPr>
                        <a:t>, vol. 2, pp. 112–128, 2023</a:t>
                      </a:r>
                    </a:p>
                  </a:txBody>
                  <a:tcPr/>
                </a:tc>
                <a:tc>
                  <a:txBody>
                    <a:bodyPr/>
                    <a:lstStyle/>
                    <a:p>
                      <a:pPr algn="just"/>
                      <a:r>
                        <a:rPr lang="en-US" sz="2300" dirty="0">
                          <a:latin typeface="Times New Roman" panose="02020603050405020304" pitchFamily="18" charset="0"/>
                          <a:cs typeface="Times New Roman" panose="02020603050405020304" pitchFamily="18" charset="0"/>
                        </a:rPr>
                        <a:t>2023</a:t>
                      </a:r>
                      <a:endParaRPr lang="en-IN" sz="2300" dirty="0">
                        <a:latin typeface="Times New Roman" panose="02020603050405020304" pitchFamily="18" charset="0"/>
                        <a:cs typeface="Times New Roman" panose="02020603050405020304" pitchFamily="18" charset="0"/>
                      </a:endParaRPr>
                    </a:p>
                  </a:txBody>
                  <a:tcPr/>
                </a:tc>
                <a:tc>
                  <a:txBody>
                    <a:bodyPr/>
                    <a:lstStyle/>
                    <a:p>
                      <a:pPr algn="just">
                        <a:buNone/>
                      </a:pPr>
                      <a:r>
                        <a:rPr lang="en-US" sz="2300" b="0" dirty="0">
                          <a:latin typeface="Times New Roman" panose="02020603050405020304" pitchFamily="18" charset="0"/>
                          <a:cs typeface="Times New Roman" panose="02020603050405020304" pitchFamily="18" charset="0"/>
                        </a:rPr>
                        <a:t>A comprehensive overview covering existing deep learning approaches for skeletal fracture detection and detailing the challenges faced by these models</a:t>
                      </a:r>
                      <a:r>
                        <a:rPr lang="en-US" sz="23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0002"/>
                  </a:ext>
                </a:extLst>
              </a:tr>
              <a:tr h="1308483">
                <a:tc>
                  <a:txBody>
                    <a:bodyPr/>
                    <a:lstStyle/>
                    <a:p>
                      <a:pPr algn="just"/>
                      <a:r>
                        <a:rPr lang="en-IN" sz="2300" dirty="0">
                          <a:latin typeface="Times New Roman" panose="02020603050405020304" pitchFamily="18" charset="0"/>
                          <a:cs typeface="Times New Roman" panose="02020603050405020304" pitchFamily="18" charset="0"/>
                        </a:rPr>
                        <a:t>3</a:t>
                      </a:r>
                    </a:p>
                  </a:txBody>
                  <a:tcPr/>
                </a:tc>
                <a:tc>
                  <a:txBody>
                    <a:bodyPr/>
                    <a:lstStyle/>
                    <a:p>
                      <a:pPr algn="just"/>
                      <a:r>
                        <a:rPr lang="en-IN" sz="2300" dirty="0">
                          <a:latin typeface="Times New Roman" panose="02020603050405020304" pitchFamily="18" charset="0"/>
                          <a:cs typeface="Times New Roman" panose="02020603050405020304" pitchFamily="18" charset="0"/>
                        </a:rPr>
                        <a:t>] X. Ju et al</a:t>
                      </a:r>
                    </a:p>
                  </a:txBody>
                  <a:tcPr/>
                </a:tc>
                <a:tc>
                  <a:txBody>
                    <a:bodyPr/>
                    <a:lstStyle/>
                    <a:p>
                      <a:pPr algn="just"/>
                      <a:r>
                        <a:rPr lang="en-IN" sz="2300" dirty="0">
                          <a:latin typeface="Times New Roman" panose="02020603050405020304" pitchFamily="18" charset="0"/>
                          <a:cs typeface="Times New Roman" panose="02020603050405020304" pitchFamily="18" charset="0"/>
                        </a:rPr>
                        <a:t>“Fracture detection in paediatric wrist trauma X-ray images using YOLOv8,” </a:t>
                      </a:r>
                      <a:r>
                        <a:rPr lang="en-IN" sz="2300" i="1" dirty="0">
                          <a:latin typeface="Times New Roman" panose="02020603050405020304" pitchFamily="18" charset="0"/>
                          <a:cs typeface="Times New Roman" panose="02020603050405020304" pitchFamily="18" charset="0"/>
                        </a:rPr>
                        <a:t>Scientific Reports</a:t>
                      </a:r>
                      <a:r>
                        <a:rPr lang="en-IN" sz="2300" dirty="0">
                          <a:latin typeface="Times New Roman" panose="02020603050405020304" pitchFamily="18" charset="0"/>
                          <a:cs typeface="Times New Roman" panose="02020603050405020304" pitchFamily="18" charset="0"/>
                        </a:rPr>
                        <a:t>, vol. 13, no. 12567, pp. 1–12, 2023</a:t>
                      </a:r>
                    </a:p>
                  </a:txBody>
                  <a:tcPr/>
                </a:tc>
                <a:tc>
                  <a:txBody>
                    <a:bodyPr/>
                    <a:lstStyle/>
                    <a:p>
                      <a:pPr algn="just"/>
                      <a:r>
                        <a:rPr lang="en-US" sz="2300" dirty="0">
                          <a:latin typeface="Times New Roman" panose="02020603050405020304" pitchFamily="18" charset="0"/>
                          <a:cs typeface="Times New Roman" panose="02020603050405020304" pitchFamily="18" charset="0"/>
                        </a:rPr>
                        <a:t>2023</a:t>
                      </a:r>
                      <a:endParaRPr lang="en-IN" sz="2300" dirty="0">
                        <a:latin typeface="Times New Roman" panose="02020603050405020304" pitchFamily="18" charset="0"/>
                        <a:cs typeface="Times New Roman" panose="02020603050405020304" pitchFamily="18" charset="0"/>
                      </a:endParaRPr>
                    </a:p>
                  </a:txBody>
                  <a:tcPr/>
                </a:tc>
                <a:tc>
                  <a:txBody>
                    <a:bodyPr/>
                    <a:lstStyle/>
                    <a:p>
                      <a:pPr algn="just">
                        <a:buNone/>
                      </a:pPr>
                      <a:r>
                        <a:rPr lang="en-US" sz="2400" b="0" dirty="0">
                          <a:latin typeface="Times New Roman" panose="02020603050405020304" pitchFamily="18" charset="0"/>
                          <a:cs typeface="Times New Roman" panose="02020603050405020304" pitchFamily="18" charset="0"/>
                        </a:rPr>
                        <a:t>Directly supports the chosen approach, demonstrating that YOLOv8 is effective for fracture detection in X-ray images, specifically in pediatric wrist trauma.</a:t>
                      </a:r>
                      <a:endParaRPr lang="en-IN" sz="23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285647855"/>
              </p:ext>
            </p:extLst>
          </p:nvPr>
        </p:nvGraphicFramePr>
        <p:xfrm>
          <a:off x="665017" y="1869916"/>
          <a:ext cx="16957965" cy="4373880"/>
        </p:xfrm>
        <a:graphic>
          <a:graphicData uri="http://schemas.openxmlformats.org/drawingml/2006/table">
            <a:tbl>
              <a:tblPr firstRow="1" bandRow="1">
                <a:tableStyleId>{5C22544A-7EE6-4342-B048-85BDC9FD1C3A}</a:tableStyleId>
              </a:tblPr>
              <a:tblGrid>
                <a:gridCol w="1187846">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872133">
                  <a:extLst>
                    <a:ext uri="{9D8B030D-6E8A-4147-A177-3AD203B41FA5}">
                      <a16:colId xmlns:a16="http://schemas.microsoft.com/office/drawing/2014/main" val="20002"/>
                    </a:ext>
                  </a:extLst>
                </a:gridCol>
                <a:gridCol w="2079791">
                  <a:extLst>
                    <a:ext uri="{9D8B030D-6E8A-4147-A177-3AD203B41FA5}">
                      <a16:colId xmlns:a16="http://schemas.microsoft.com/office/drawing/2014/main" val="20003"/>
                    </a:ext>
                  </a:extLst>
                </a:gridCol>
                <a:gridCol w="4703395">
                  <a:extLst>
                    <a:ext uri="{9D8B030D-6E8A-4147-A177-3AD203B41FA5}">
                      <a16:colId xmlns:a16="http://schemas.microsoft.com/office/drawing/2014/main" val="20004"/>
                    </a:ext>
                  </a:extLst>
                </a:gridCol>
              </a:tblGrid>
              <a:tr h="1059645">
                <a:tc>
                  <a:txBody>
                    <a:bodyPr/>
                    <a:lstStyle/>
                    <a:p>
                      <a:pPr algn="just"/>
                      <a:r>
                        <a:rPr lang="en-US" sz="2500" b="0" dirty="0">
                          <a:latin typeface="Times New Roman" panose="02020603050405020304" pitchFamily="18" charset="0"/>
                          <a:cs typeface="Times New Roman" panose="02020603050405020304" pitchFamily="18" charset="0"/>
                        </a:rPr>
                        <a:t>4</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IN" sz="2500" b="0" dirty="0">
                          <a:latin typeface="Times New Roman" panose="02020603050405020304" pitchFamily="18" charset="0"/>
                          <a:cs typeface="Times New Roman" panose="02020603050405020304" pitchFamily="18" charset="0"/>
                        </a:rPr>
                        <a:t>P. </a:t>
                      </a:r>
                      <a:r>
                        <a:rPr lang="en-IN" sz="2500" b="0" dirty="0" err="1">
                          <a:latin typeface="Times New Roman" panose="02020603050405020304" pitchFamily="18" charset="0"/>
                          <a:cs typeface="Times New Roman" panose="02020603050405020304" pitchFamily="18" charset="0"/>
                        </a:rPr>
                        <a:t>Rajpurkar</a:t>
                      </a:r>
                      <a:r>
                        <a:rPr lang="en-IN" sz="2500" b="0" dirty="0">
                          <a:latin typeface="Times New Roman" panose="02020603050405020304" pitchFamily="18" charset="0"/>
                          <a:cs typeface="Times New Roman" panose="02020603050405020304" pitchFamily="18" charset="0"/>
                        </a:rPr>
                        <a:t> et al</a:t>
                      </a:r>
                    </a:p>
                  </a:txBody>
                  <a:tcPr/>
                </a:tc>
                <a:tc>
                  <a:txBody>
                    <a:bodyPr/>
                    <a:lstStyle/>
                    <a:p>
                      <a:pPr algn="just"/>
                      <a:r>
                        <a:rPr lang="en-IN" sz="2500" b="0" dirty="0">
                          <a:latin typeface="Times New Roman" panose="02020603050405020304" pitchFamily="18" charset="0"/>
                          <a:cs typeface="Times New Roman" panose="02020603050405020304" pitchFamily="18" charset="0"/>
                        </a:rPr>
                        <a:t>“MURA: Large dataset for abnormality detection in musculoskeletal radiographs,” </a:t>
                      </a:r>
                      <a:r>
                        <a:rPr lang="en-IN" sz="2500" b="0" i="1" dirty="0" err="1">
                          <a:latin typeface="Times New Roman" panose="02020603050405020304" pitchFamily="18" charset="0"/>
                          <a:cs typeface="Times New Roman" panose="02020603050405020304" pitchFamily="18" charset="0"/>
                        </a:rPr>
                        <a:t>arXiv</a:t>
                      </a:r>
                      <a:r>
                        <a:rPr lang="en-IN" sz="2500" b="0" i="1" dirty="0">
                          <a:latin typeface="Times New Roman" panose="02020603050405020304" pitchFamily="18" charset="0"/>
                          <a:cs typeface="Times New Roman" panose="02020603050405020304" pitchFamily="18" charset="0"/>
                        </a:rPr>
                        <a:t> preprint arXiv:1712.06957</a:t>
                      </a:r>
                      <a:r>
                        <a:rPr lang="en-IN" sz="2500" b="0" dirty="0">
                          <a:latin typeface="Times New Roman" panose="02020603050405020304" pitchFamily="18" charset="0"/>
                          <a:cs typeface="Times New Roman" panose="02020603050405020304" pitchFamily="18" charset="0"/>
                        </a:rPr>
                        <a:t>, 2022.</a:t>
                      </a:r>
                      <a:br>
                        <a:rPr lang="en-IN" sz="2500" b="0" dirty="0">
                          <a:latin typeface="Times New Roman" panose="02020603050405020304" pitchFamily="18" charset="0"/>
                          <a:cs typeface="Times New Roman" panose="02020603050405020304" pitchFamily="18" charset="0"/>
                        </a:rPr>
                      </a:b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500" b="0" dirty="0">
                          <a:latin typeface="Times New Roman" panose="02020603050405020304" pitchFamily="18" charset="0"/>
                          <a:cs typeface="Times New Roman" panose="02020603050405020304" pitchFamily="18" charset="0"/>
                        </a:rPr>
                        <a:t>2022</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500" b="0" dirty="0">
                          <a:latin typeface="Times New Roman" panose="02020603050405020304" pitchFamily="18" charset="0"/>
                          <a:cs typeface="Times New Roman" panose="02020603050405020304" pitchFamily="18" charset="0"/>
                        </a:rPr>
                        <a:t>Describes the MURA dataset, an important and large dataset widely used for abnormality detection in musculoskeletal radiographs, which is foundational for many existing fracture detection systems.</a:t>
                      </a:r>
                      <a:endParaRPr lang="en-IN" sz="2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818396">
                <a:tc>
                  <a:txBody>
                    <a:bodyPr/>
                    <a:lstStyle/>
                    <a:p>
                      <a:pPr algn="just"/>
                      <a:r>
                        <a:rPr lang="en-US" sz="2500" b="0" dirty="0">
                          <a:latin typeface="Times New Roman" panose="02020603050405020304" pitchFamily="18" charset="0"/>
                          <a:cs typeface="Times New Roman" panose="02020603050405020304" pitchFamily="18" charset="0"/>
                        </a:rPr>
                        <a:t>5</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IN" sz="2500" b="0" dirty="0">
                          <a:latin typeface="Times New Roman" panose="02020603050405020304" pitchFamily="18" charset="0"/>
                          <a:cs typeface="Times New Roman" panose="02020603050405020304" pitchFamily="18" charset="0"/>
                        </a:rPr>
                        <a:t>] Z. Wu et al</a:t>
                      </a:r>
                    </a:p>
                  </a:txBody>
                  <a:tcPr/>
                </a:tc>
                <a:tc>
                  <a:txBody>
                    <a:bodyPr/>
                    <a:lstStyle/>
                    <a:p>
                      <a:pPr algn="just"/>
                      <a:r>
                        <a:rPr lang="en-IN" sz="2500" b="0" dirty="0">
                          <a:latin typeface="Times New Roman" panose="02020603050405020304" pitchFamily="18" charset="0"/>
                          <a:cs typeface="Times New Roman" panose="02020603050405020304" pitchFamily="18" charset="0"/>
                        </a:rPr>
                        <a:t>“YOLOv9: Improved real-time object detection with enhanced feature learning,” </a:t>
                      </a:r>
                      <a:r>
                        <a:rPr lang="en-IN" sz="2500" b="0" i="1" dirty="0" err="1">
                          <a:latin typeface="Times New Roman" panose="02020603050405020304" pitchFamily="18" charset="0"/>
                          <a:cs typeface="Times New Roman" panose="02020603050405020304" pitchFamily="18" charset="0"/>
                        </a:rPr>
                        <a:t>arXiv</a:t>
                      </a:r>
                      <a:r>
                        <a:rPr lang="en-IN" sz="2500" b="0" i="1" dirty="0">
                          <a:latin typeface="Times New Roman" panose="02020603050405020304" pitchFamily="18" charset="0"/>
                          <a:cs typeface="Times New Roman" panose="02020603050405020304" pitchFamily="18" charset="0"/>
                        </a:rPr>
                        <a:t> preprint arXiv:2402.13616</a:t>
                      </a:r>
                      <a:r>
                        <a:rPr lang="en-IN" sz="2500" b="0" dirty="0">
                          <a:latin typeface="Times New Roman" panose="02020603050405020304" pitchFamily="18" charset="0"/>
                          <a:cs typeface="Times New Roman" panose="02020603050405020304" pitchFamily="18" charset="0"/>
                        </a:rPr>
                        <a:t>, 2024.</a:t>
                      </a:r>
                      <a:br>
                        <a:rPr lang="en-IN" sz="2500" b="0" dirty="0">
                          <a:latin typeface="Times New Roman" panose="02020603050405020304" pitchFamily="18" charset="0"/>
                          <a:cs typeface="Times New Roman" panose="02020603050405020304" pitchFamily="18" charset="0"/>
                        </a:rPr>
                      </a:b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500" b="0" dirty="0">
                          <a:latin typeface="Times New Roman" panose="02020603050405020304" pitchFamily="18" charset="0"/>
                          <a:cs typeface="Times New Roman" panose="02020603050405020304" pitchFamily="18" charset="0"/>
                        </a:rPr>
                        <a:t>2024</a:t>
                      </a:r>
                      <a:endParaRPr lang="en-IN" sz="2500" b="0" dirty="0">
                        <a:latin typeface="Times New Roman" panose="02020603050405020304" pitchFamily="18" charset="0"/>
                        <a:cs typeface="Times New Roman" panose="02020603050405020304" pitchFamily="18" charset="0"/>
                      </a:endParaRPr>
                    </a:p>
                  </a:txBody>
                  <a:tcPr/>
                </a:tc>
                <a:tc>
                  <a:txBody>
                    <a:bodyPr/>
                    <a:lstStyle/>
                    <a:p>
                      <a:pPr algn="just"/>
                      <a:r>
                        <a:rPr lang="en-US" sz="2400" b="0" dirty="0">
                          <a:latin typeface="Times New Roman" panose="02020603050405020304" pitchFamily="18" charset="0"/>
                          <a:cs typeface="Times New Roman" panose="02020603050405020304" pitchFamily="18" charset="0"/>
                        </a:rPr>
                        <a:t>Presents the latest YOLO variant, supporting the decision to use YOLO-based methods for improved real-time object detection and enhanced feature learning</a:t>
                      </a:r>
                      <a:endParaRPr lang="en-IN" sz="2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
        <p:nvSpPr>
          <p:cNvPr id="5" name="Rectangle 4"/>
          <p:cNvSpPr/>
          <p:nvPr/>
        </p:nvSpPr>
        <p:spPr>
          <a:xfrm>
            <a:off x="312822" y="285296"/>
            <a:ext cx="15821914" cy="9218677"/>
          </a:xfrm>
          <a:prstGeom prst="rect">
            <a:avLst/>
          </a:prstGeom>
        </p:spPr>
        <p:txBody>
          <a:bodyPr wrap="square">
            <a:spAutoFit/>
          </a:bodyPr>
          <a:lstStyle/>
          <a:p>
            <a:pPr lvl="1">
              <a:lnSpc>
                <a:spcPct val="150000"/>
              </a:lnSpc>
            </a:pPr>
            <a:r>
              <a:rPr lang="en-IN" sz="3600" b="1" dirty="0">
                <a:latin typeface="Times New Roman" pitchFamily="18" charset="0"/>
                <a:cs typeface="Times New Roman" pitchFamily="18" charset="0"/>
              </a:rPr>
              <a:t>                                      DESIGN AND METHODOLOGIES</a:t>
            </a:r>
          </a:p>
          <a:p>
            <a:pPr lvl="1">
              <a:lnSpc>
                <a:spcPct val="150000"/>
              </a:lnSpc>
            </a:pPr>
            <a:r>
              <a:rPr lang="en-IN" sz="3600" b="1" dirty="0">
                <a:latin typeface="Times New Roman" pitchFamily="18" charset="0"/>
                <a:cs typeface="Times New Roman" pitchFamily="18" charset="0"/>
              </a:rPr>
              <a:t>                                                     MODULE 1</a:t>
            </a:r>
          </a:p>
          <a:p>
            <a:pPr lvl="1">
              <a:lnSpc>
                <a:spcPct val="150000"/>
              </a:lnSpc>
            </a:pPr>
            <a:r>
              <a:rPr lang="en-IN" sz="3400" b="1" dirty="0">
                <a:latin typeface="Times New Roman" pitchFamily="18" charset="0"/>
                <a:cs typeface="Times New Roman" pitchFamily="18" charset="0"/>
              </a:rPr>
              <a:t>Data Collection of X-ray Images:</a:t>
            </a:r>
          </a:p>
          <a:p>
            <a:pPr marL="1028700" lvl="1" indent="-5715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project relies on a large collection of X-ray images that are essential for training the deep learning model.</a:t>
            </a:r>
          </a:p>
          <a:p>
            <a:pPr marL="1028700" lvl="1" indent="-5715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Dataset Source: MURA (Musculoskeletal Radiographs) or a similar large-scale X-ray image collection is used to provide clinical relevance and diversity in fracture types.</a:t>
            </a:r>
          </a:p>
          <a:p>
            <a:pPr marL="1028700" lvl="1" indent="-5715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Initial Structure: The raw data is hierarchically organized, with studies labeled as ..._positive (fractured/abnormal) and ..._negative (normal), with duplicate image names across patient folders.</a:t>
            </a:r>
          </a:p>
          <a:p>
            <a:pPr lvl="1" algn="just">
              <a:lnSpc>
                <a:spcPct val="150000"/>
              </a:lnSpc>
            </a:pPr>
            <a:r>
              <a:rPr lang="en-US" sz="2200" dirty="0">
                <a:latin typeface="Times New Roman" panose="02020603050405020304" pitchFamily="18" charset="0"/>
                <a:cs typeface="Times New Roman" panose="02020603050405020304" pitchFamily="18" charset="0"/>
              </a:rPr>
              <a:t>													</a:t>
            </a:r>
            <a:r>
              <a:rPr lang="en-IN" sz="2400" b="1" dirty="0">
                <a:latin typeface="Times New Roman" pitchFamily="18" charset="0"/>
                <a:cs typeface="Times New Roman" pitchFamily="18" charset="0"/>
              </a:rPr>
              <a:t> </a:t>
            </a:r>
            <a:r>
              <a:rPr lang="en-IN" sz="3600" b="1" dirty="0">
                <a:latin typeface="Times New Roman" pitchFamily="18" charset="0"/>
                <a:cs typeface="Times New Roman" pitchFamily="18" charset="0"/>
              </a:rPr>
              <a:t>MODULE 2</a:t>
            </a:r>
          </a:p>
          <a:p>
            <a:pPr lvl="1" algn="just">
              <a:lnSpc>
                <a:spcPct val="150000"/>
              </a:lnSpc>
            </a:pPr>
            <a:r>
              <a:rPr lang="en-IN" sz="3400" b="1" dirty="0">
                <a:latin typeface="Times New Roman" pitchFamily="18" charset="0"/>
                <a:cs typeface="Times New Roman" pitchFamily="18" charset="0"/>
              </a:rPr>
              <a:t>Patient Interface:</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X-ray Upload: Allows patients to securely upload their X-ray images to the system.</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Doctor Permission Grant: Patients explicitly select a doctor to grant viewing permission to their X-ray report and results, maintaining data control.</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History Viewing: Enables patients to view a record of their past uploaded X-rays and detection reports.</a:t>
            </a:r>
          </a:p>
          <a:p>
            <a:pPr marL="800100" lvl="1"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Secure Record Management: Provides an interface for patients to securely manage their sensitive medical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0D5F0-3748-17F8-A613-2384E11776D0}"/>
              </a:ext>
            </a:extLst>
          </p:cNvPr>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a:extLst>
              <a:ext uri="{FF2B5EF4-FFF2-40B4-BE49-F238E27FC236}">
                <a16:creationId xmlns:a16="http://schemas.microsoft.com/office/drawing/2014/main" id="{4C2CAE87-5225-8BCA-E2DF-4EF87B74B20C}"/>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C3634DF6-AD22-39FB-C959-D28A255E68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
        <p:nvSpPr>
          <p:cNvPr id="6" name="TextBox 5">
            <a:extLst>
              <a:ext uri="{FF2B5EF4-FFF2-40B4-BE49-F238E27FC236}">
                <a16:creationId xmlns:a16="http://schemas.microsoft.com/office/drawing/2014/main" id="{F7487C1C-9485-A757-9904-0B6512B43EEA}"/>
              </a:ext>
            </a:extLst>
          </p:cNvPr>
          <p:cNvSpPr txBox="1"/>
          <p:nvPr/>
        </p:nvSpPr>
        <p:spPr>
          <a:xfrm>
            <a:off x="5526897" y="257659"/>
            <a:ext cx="7234205" cy="742511"/>
          </a:xfrm>
          <a:prstGeom prst="rect">
            <a:avLst/>
          </a:prstGeom>
          <a:noFill/>
        </p:spPr>
        <p:txBody>
          <a:bodyPr wrap="square">
            <a:spAutoFit/>
          </a:bodyPr>
          <a:lstStyle/>
          <a:p>
            <a:pPr lvl="1">
              <a:lnSpc>
                <a:spcPct val="150000"/>
              </a:lnSpc>
            </a:pPr>
            <a:r>
              <a:rPr lang="en-IN" sz="3200" b="1" dirty="0">
                <a:latin typeface="Times New Roman" panose="02020603050405020304" pitchFamily="18" charset="0"/>
                <a:cs typeface="Times New Roman" panose="02020603050405020304" pitchFamily="18" charset="0"/>
              </a:rPr>
              <a:t>DESIGN AND METHODOLOGIES</a:t>
            </a:r>
          </a:p>
        </p:txBody>
      </p:sp>
      <p:sp>
        <p:nvSpPr>
          <p:cNvPr id="7" name="TextBox 6">
            <a:extLst>
              <a:ext uri="{FF2B5EF4-FFF2-40B4-BE49-F238E27FC236}">
                <a16:creationId xmlns:a16="http://schemas.microsoft.com/office/drawing/2014/main" id="{888926E4-8639-6966-CFFD-1CCBD8DA3385}"/>
              </a:ext>
            </a:extLst>
          </p:cNvPr>
          <p:cNvSpPr txBox="1"/>
          <p:nvPr/>
        </p:nvSpPr>
        <p:spPr>
          <a:xfrm>
            <a:off x="855406" y="1342459"/>
            <a:ext cx="16650929" cy="7602081"/>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															MODULE 3</a:t>
            </a:r>
            <a:endParaRPr lang="en-IN" sz="2200" b="1"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Fracture Detection Engine:</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YOLO Algorithm Application: The YOLO deep learning algorithm is applied on the uploaded X-ray image for analysis.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Fracture Localization: The system identifies and visually outlines the fracture location using bounding boxes.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Classification &amp; Severity: The model detects the type of fracture and shows its severity.</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Detection Result Storage: The fracture detection results, including type and severity, are saved directly into the MySQL database.</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MODULE 4</a:t>
            </a:r>
          </a:p>
          <a:p>
            <a:pPr algn="just"/>
            <a:r>
              <a:rPr lang="en-IN" sz="3200" b="1" dirty="0">
                <a:latin typeface="Times New Roman" panose="02020603050405020304" pitchFamily="18" charset="0"/>
                <a:cs typeface="Times New Roman" panose="02020603050405020304" pitchFamily="18" charset="0"/>
              </a:rPr>
              <a:t>Doctor Interface &amp; Clinical Review:</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Secure Access to Reports: Doctors log in and can only access the X-ray reports for which the patient has granted permission.</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Review AI Results: Doctors view the X-ray image alongside the AI's detection results (bounding boxes, fracture type).</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Clinical Suggestions: Based on the AI-assisted report, the doctor can provide medical suggestions or prescriptions.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Efficient Interaction: The system streamlines the patient-doctor interaction and contributes to efficient medical record management.</a:t>
            </a:r>
          </a:p>
        </p:txBody>
      </p:sp>
    </p:spTree>
    <p:extLst>
      <p:ext uri="{BB962C8B-B14F-4D97-AF65-F5344CB8AC3E}">
        <p14:creationId xmlns:p14="http://schemas.microsoft.com/office/powerpoint/2010/main" val="3878155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
        <p:nvSpPr>
          <p:cNvPr id="6" name="Rectangle 5"/>
          <p:cNvSpPr/>
          <p:nvPr/>
        </p:nvSpPr>
        <p:spPr>
          <a:xfrm>
            <a:off x="801060" y="698561"/>
            <a:ext cx="16988176" cy="3108543"/>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  MODULE 1</a:t>
            </a:r>
            <a:r>
              <a:rPr lang="en-US" sz="2800" b="1" dirty="0">
                <a:latin typeface="Times New Roman" panose="02020603050405020304" pitchFamily="18" charset="0"/>
                <a:cs typeface="Times New Roman" panose="02020603050405020304" pitchFamily="18" charset="0"/>
              </a:rPr>
              <a:t>: </a:t>
            </a:r>
          </a:p>
          <a:p>
            <a:pPr algn="ctr"/>
            <a:r>
              <a:rPr lang="en-IN" sz="2800" b="1" dirty="0">
                <a:latin typeface="Times New Roman" pitchFamily="18" charset="0"/>
                <a:cs typeface="Times New Roman" pitchFamily="18" charset="0"/>
              </a:rPr>
              <a:t>Data Collection of X-ray Images:</a:t>
            </a:r>
          </a:p>
          <a:p>
            <a:endParaRPr lang="en-US"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Step:1 Collection of data</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pic>
        <p:nvPicPr>
          <p:cNvPr id="9" name="Picture 8" descr="A group of squares with different colors&#10;&#10;AI-generated content may be incorrect.">
            <a:extLst>
              <a:ext uri="{FF2B5EF4-FFF2-40B4-BE49-F238E27FC236}">
                <a16:creationId xmlns:a16="http://schemas.microsoft.com/office/drawing/2014/main" id="{F0E7836F-A35D-8BE9-95F8-6A2B3554D9E6}"/>
              </a:ext>
            </a:extLst>
          </p:cNvPr>
          <p:cNvPicPr>
            <a:picLocks noChangeAspect="1"/>
          </p:cNvPicPr>
          <p:nvPr/>
        </p:nvPicPr>
        <p:blipFill>
          <a:blip r:embed="rId2"/>
          <a:stretch>
            <a:fillRect/>
          </a:stretch>
        </p:blipFill>
        <p:spPr>
          <a:xfrm>
            <a:off x="3878826" y="2670801"/>
            <a:ext cx="11282516" cy="56767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
        <p:nvSpPr>
          <p:cNvPr id="5" name="Rectangle 4"/>
          <p:cNvSpPr/>
          <p:nvPr/>
        </p:nvSpPr>
        <p:spPr>
          <a:xfrm>
            <a:off x="990823" y="656998"/>
            <a:ext cx="16631681" cy="1231106"/>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Step 2: Processing the data</a:t>
            </a:r>
          </a:p>
          <a:p>
            <a:endParaRPr lang="en-US" sz="2800" b="1" dirty="0">
              <a:latin typeface="Times New Roman" panose="02020603050405020304" pitchFamily="18" charset="0"/>
              <a:cs typeface="Times New Roman" panose="02020603050405020304" pitchFamily="18" charset="0"/>
            </a:endParaRPr>
          </a:p>
          <a:p>
            <a:endParaRPr lang="en-IN" dirty="0"/>
          </a:p>
        </p:txBody>
      </p:sp>
      <p:sp>
        <p:nvSpPr>
          <p:cNvPr id="7" name="TextBox 6"/>
          <p:cNvSpPr txBox="1"/>
          <p:nvPr/>
        </p:nvSpPr>
        <p:spPr>
          <a:xfrm>
            <a:off x="665497" y="1272551"/>
            <a:ext cx="8478504" cy="7879080"/>
          </a:xfrm>
          <a:prstGeom prst="rect">
            <a:avLst/>
          </a:prstGeom>
          <a:noFill/>
        </p:spPr>
        <p:txBody>
          <a:bodyPr wrap="square" rtlCol="0">
            <a:spAutoFit/>
          </a:bodyPr>
          <a:lstStyle/>
          <a:p>
            <a:pPr algn="just"/>
            <a:r>
              <a:rPr lang="en-IN" sz="2200" dirty="0">
                <a:latin typeface="Times New Roman" panose="02020603050405020304" pitchFamily="18" charset="0"/>
                <a:cs typeface="Times New Roman" panose="02020603050405020304" pitchFamily="18" charset="0"/>
              </a:rPr>
              <a:t>This directory structure confirms the system is built on a </a:t>
            </a:r>
            <a:r>
              <a:rPr lang="en-IN" sz="2200" b="1" dirty="0">
                <a:latin typeface="Times New Roman" panose="02020603050405020304" pitchFamily="18" charset="0"/>
                <a:cs typeface="Times New Roman" panose="02020603050405020304" pitchFamily="18" charset="0"/>
              </a:rPr>
              <a:t>robust Django/Python framework</a:t>
            </a:r>
            <a:r>
              <a:rPr lang="en-IN" sz="2200" dirty="0">
                <a:latin typeface="Times New Roman" panose="02020603050405020304" pitchFamily="18" charset="0"/>
                <a:cs typeface="Times New Roman" panose="02020603050405020304" pitchFamily="18" charset="0"/>
              </a:rPr>
              <a:t> integrated with machine learning components.</a:t>
            </a:r>
          </a:p>
          <a:p>
            <a:pPr algn="just"/>
            <a:r>
              <a:rPr lang="en-IN" sz="2200" b="1" dirty="0">
                <a:latin typeface="Times New Roman" panose="02020603050405020304" pitchFamily="18" charset="0"/>
                <a:cs typeface="Times New Roman" panose="02020603050405020304" pitchFamily="18" charset="0"/>
              </a:rPr>
              <a:t>__</a:t>
            </a:r>
            <a:r>
              <a:rPr lang="en-IN" sz="2200" b="1" dirty="0" err="1">
                <a:latin typeface="Times New Roman" panose="02020603050405020304" pitchFamily="18" charset="0"/>
                <a:cs typeface="Times New Roman" panose="02020603050405020304" pitchFamily="18" charset="0"/>
              </a:rPr>
              <a:t>pycache</a:t>
            </a:r>
            <a:r>
              <a:rPr lang="en-IN" sz="2200" b="1" dirty="0">
                <a:latin typeface="Times New Roman" panose="02020603050405020304" pitchFamily="18" charset="0"/>
                <a:cs typeface="Times New Roman" panose="02020603050405020304" pitchFamily="18" charset="0"/>
              </a:rPr>
              <a:t>__</a:t>
            </a:r>
            <a:r>
              <a:rPr lang="en-IN" sz="2200" dirty="0">
                <a:latin typeface="Times New Roman" panose="02020603050405020304" pitchFamily="18" charset="0"/>
                <a:cs typeface="Times New Roman" panose="02020603050405020304" pitchFamily="18" charset="0"/>
              </a:rPr>
              <a:t>: System folder storing </a:t>
            </a:r>
            <a:r>
              <a:rPr lang="en-IN" sz="2200" b="1" dirty="0">
                <a:latin typeface="Times New Roman" panose="02020603050405020304" pitchFamily="18" charset="0"/>
                <a:cs typeface="Times New Roman" panose="02020603050405020304" pitchFamily="18" charset="0"/>
              </a:rPr>
              <a:t>Python bytecode</a:t>
            </a:r>
            <a:r>
              <a:rPr lang="en-IN" sz="2200" dirty="0">
                <a:latin typeface="Times New Roman" panose="02020603050405020304" pitchFamily="18" charset="0"/>
                <a:cs typeface="Times New Roman" panose="02020603050405020304" pitchFamily="18" charset="0"/>
              </a:rPr>
              <a:t> for faster execution of modules.</a:t>
            </a:r>
          </a:p>
          <a:p>
            <a:pPr algn="just"/>
            <a:r>
              <a:rPr lang="en-IN" sz="2200" b="1" dirty="0">
                <a:latin typeface="Times New Roman" panose="02020603050405020304" pitchFamily="18" charset="0"/>
                <a:cs typeface="Times New Roman" panose="02020603050405020304" pitchFamily="18" charset="0"/>
              </a:rPr>
              <a:t>migrations</a:t>
            </a:r>
            <a:r>
              <a:rPr lang="en-IN" sz="2200" dirty="0">
                <a:latin typeface="Times New Roman" panose="02020603050405020304" pitchFamily="18" charset="0"/>
                <a:cs typeface="Times New Roman" panose="02020603050405020304" pitchFamily="18" charset="0"/>
              </a:rPr>
              <a:t>: Holds the </a:t>
            </a:r>
            <a:r>
              <a:rPr lang="en-IN" sz="2200" b="1" dirty="0">
                <a:latin typeface="Times New Roman" panose="02020603050405020304" pitchFamily="18" charset="0"/>
                <a:cs typeface="Times New Roman" panose="02020603050405020304" pitchFamily="18" charset="0"/>
              </a:rPr>
              <a:t>database schema history and changes</a:t>
            </a:r>
            <a:r>
              <a:rPr lang="en-IN" sz="2200" dirty="0">
                <a:latin typeface="Times New Roman" panose="02020603050405020304" pitchFamily="18" charset="0"/>
                <a:cs typeface="Times New Roman" panose="02020603050405020304" pitchFamily="18" charset="0"/>
              </a:rPr>
              <a:t>, managed by Django's ORM for updating the MySQL database.</a:t>
            </a:r>
          </a:p>
          <a:p>
            <a:pPr algn="just"/>
            <a:r>
              <a:rPr lang="en-IN" sz="2200" b="1" dirty="0">
                <a:latin typeface="Times New Roman" panose="02020603050405020304" pitchFamily="18" charset="0"/>
                <a:cs typeface="Times New Roman" panose="02020603050405020304" pitchFamily="18" charset="0"/>
              </a:rPr>
              <a:t>static</a:t>
            </a:r>
            <a:r>
              <a:rPr lang="en-IN" sz="2200" dirty="0">
                <a:latin typeface="Times New Roman" panose="02020603050405020304" pitchFamily="18" charset="0"/>
                <a:cs typeface="Times New Roman" panose="02020603050405020304" pitchFamily="18" charset="0"/>
              </a:rPr>
              <a:t>: Stores </a:t>
            </a:r>
            <a:r>
              <a:rPr lang="en-IN" sz="2200" b="1" dirty="0">
                <a:latin typeface="Times New Roman" panose="02020603050405020304" pitchFamily="18" charset="0"/>
                <a:cs typeface="Times New Roman" panose="02020603050405020304" pitchFamily="18" charset="0"/>
              </a:rPr>
              <a:t>CSS, JavaScript, and image files</a:t>
            </a:r>
            <a:r>
              <a:rPr lang="en-IN" sz="2200" dirty="0">
                <a:latin typeface="Times New Roman" panose="02020603050405020304" pitchFamily="18" charset="0"/>
                <a:cs typeface="Times New Roman" panose="02020603050405020304" pitchFamily="18" charset="0"/>
              </a:rPr>
              <a:t>, crucial for the </a:t>
            </a:r>
            <a:r>
              <a:rPr lang="en-IN" sz="2200" b="1" dirty="0">
                <a:latin typeface="Times New Roman" panose="02020603050405020304" pitchFamily="18" charset="0"/>
                <a:cs typeface="Times New Roman" panose="02020603050405020304" pitchFamily="18" charset="0"/>
              </a:rPr>
              <a:t>Frontend (Web App)</a:t>
            </a:r>
            <a:r>
              <a:rPr lang="en-IN" sz="2200" dirty="0">
                <a:latin typeface="Times New Roman" panose="02020603050405020304" pitchFamily="18" charset="0"/>
                <a:cs typeface="Times New Roman" panose="02020603050405020304" pitchFamily="18" charset="0"/>
              </a:rPr>
              <a:t> presentation and functionality.</a:t>
            </a:r>
          </a:p>
          <a:p>
            <a:pPr algn="just"/>
            <a:r>
              <a:rPr lang="en-IN" sz="2200" b="1" dirty="0">
                <a:latin typeface="Times New Roman" panose="02020603050405020304" pitchFamily="18" charset="0"/>
                <a:cs typeface="Times New Roman" panose="02020603050405020304" pitchFamily="18" charset="0"/>
              </a:rPr>
              <a:t>templates</a:t>
            </a:r>
            <a:r>
              <a:rPr lang="en-IN" sz="2200" dirty="0">
                <a:latin typeface="Times New Roman" panose="02020603050405020304" pitchFamily="18" charset="0"/>
                <a:cs typeface="Times New Roman" panose="02020603050405020304" pitchFamily="18" charset="0"/>
              </a:rPr>
              <a:t>: Contains the </a:t>
            </a:r>
            <a:r>
              <a:rPr lang="en-IN" sz="2200" b="1" dirty="0">
                <a:latin typeface="Times New Roman" panose="02020603050405020304" pitchFamily="18" charset="0"/>
                <a:cs typeface="Times New Roman" panose="02020603050405020304" pitchFamily="18" charset="0"/>
              </a:rPr>
              <a:t>HTML files</a:t>
            </a:r>
            <a:r>
              <a:rPr lang="en-IN" sz="2200" dirty="0">
                <a:latin typeface="Times New Roman" panose="02020603050405020304" pitchFamily="18" charset="0"/>
                <a:cs typeface="Times New Roman" panose="02020603050405020304" pitchFamily="18" charset="0"/>
              </a:rPr>
              <a:t> (e.g., login, dashboards) that Django uses to render the user interface.</a:t>
            </a:r>
          </a:p>
          <a:p>
            <a:pPr algn="just"/>
            <a:r>
              <a:rPr lang="en-IN" sz="2200" b="1" dirty="0" err="1">
                <a:latin typeface="Times New Roman" panose="02020603050405020304" pitchFamily="18" charset="0"/>
                <a:cs typeface="Times New Roman" panose="02020603050405020304" pitchFamily="18" charset="0"/>
              </a:rPr>
              <a:t>venv</a:t>
            </a:r>
            <a:r>
              <a:rPr lang="en-IN" sz="2200" dirty="0">
                <a:latin typeface="Times New Roman" panose="02020603050405020304" pitchFamily="18" charset="0"/>
                <a:cs typeface="Times New Roman" panose="02020603050405020304" pitchFamily="18" charset="0"/>
              </a:rPr>
              <a:t>: The </a:t>
            </a:r>
            <a:r>
              <a:rPr lang="en-IN" sz="2200" b="1" dirty="0">
                <a:latin typeface="Times New Roman" panose="02020603050405020304" pitchFamily="18" charset="0"/>
                <a:cs typeface="Times New Roman" panose="02020603050405020304" pitchFamily="18" charset="0"/>
              </a:rPr>
              <a:t>Python Virtual Environment</a:t>
            </a:r>
            <a:r>
              <a:rPr lang="en-IN" sz="2200" dirty="0">
                <a:latin typeface="Times New Roman" panose="02020603050405020304" pitchFamily="18" charset="0"/>
                <a:cs typeface="Times New Roman" panose="02020603050405020304" pitchFamily="18" charset="0"/>
              </a:rPr>
              <a:t>, isolating all project dependencies (Django, </a:t>
            </a:r>
            <a:r>
              <a:rPr lang="en-IN" sz="2200" dirty="0" err="1">
                <a:latin typeface="Times New Roman" panose="02020603050405020304" pitchFamily="18" charset="0"/>
                <a:cs typeface="Times New Roman" panose="02020603050405020304" pitchFamily="18" charset="0"/>
              </a:rPr>
              <a:t>PyTorch</a:t>
            </a:r>
            <a:r>
              <a:rPr lang="en-IN" sz="2200" dirty="0">
                <a:latin typeface="Times New Roman" panose="02020603050405020304" pitchFamily="18" charset="0"/>
                <a:cs typeface="Times New Roman" panose="02020603050405020304" pitchFamily="18" charset="0"/>
              </a:rPr>
              <a:t>, YOLO libraries) for reproducibility.</a:t>
            </a:r>
          </a:p>
          <a:p>
            <a:pPr algn="just"/>
            <a:r>
              <a:rPr lang="en-IN" sz="2200" b="1" dirty="0">
                <a:latin typeface="Times New Roman" panose="02020603050405020304" pitchFamily="18" charset="0"/>
                <a:cs typeface="Times New Roman" panose="02020603050405020304" pitchFamily="18" charset="0"/>
              </a:rPr>
              <a:t>app (Source File)</a:t>
            </a:r>
            <a:r>
              <a:rPr lang="en-IN" sz="2200" dirty="0">
                <a:latin typeface="Times New Roman" panose="02020603050405020304" pitchFamily="18" charset="0"/>
                <a:cs typeface="Times New Roman" panose="02020603050405020304" pitchFamily="18" charset="0"/>
              </a:rPr>
              <a:t>: Contains the </a:t>
            </a:r>
            <a:r>
              <a:rPr lang="en-IN" sz="2200" b="1" dirty="0">
                <a:latin typeface="Times New Roman" panose="02020603050405020304" pitchFamily="18" charset="0"/>
                <a:cs typeface="Times New Roman" panose="02020603050405020304" pitchFamily="18" charset="0"/>
              </a:rPr>
              <a:t>core Python application logic</a:t>
            </a:r>
            <a:r>
              <a:rPr lang="en-IN" sz="2200" dirty="0">
                <a:latin typeface="Times New Roman" panose="02020603050405020304" pitchFamily="18" charset="0"/>
                <a:cs typeface="Times New Roman" panose="02020603050405020304" pitchFamily="18" charset="0"/>
              </a:rPr>
              <a:t> or specific module functionality.</a:t>
            </a:r>
          </a:p>
          <a:p>
            <a:pPr algn="just"/>
            <a:r>
              <a:rPr lang="en-IN" sz="2200" b="1" dirty="0">
                <a:latin typeface="Times New Roman" panose="02020603050405020304" pitchFamily="18" charset="0"/>
                <a:cs typeface="Times New Roman" panose="02020603050405020304" pitchFamily="18" charset="0"/>
              </a:rPr>
              <a:t>config</a:t>
            </a:r>
            <a:r>
              <a:rPr lang="en-IN" sz="2200" dirty="0">
                <a:latin typeface="Times New Roman" panose="02020603050405020304" pitchFamily="18" charset="0"/>
                <a:cs typeface="Times New Roman" panose="02020603050405020304" pitchFamily="18" charset="0"/>
              </a:rPr>
              <a:t>: Stores sensitive </a:t>
            </a:r>
            <a:r>
              <a:rPr lang="en-IN" sz="2200" b="1" dirty="0">
                <a:latin typeface="Times New Roman" panose="02020603050405020304" pitchFamily="18" charset="0"/>
                <a:cs typeface="Times New Roman" panose="02020603050405020304" pitchFamily="18" charset="0"/>
              </a:rPr>
              <a:t>configuration settings</a:t>
            </a:r>
            <a:r>
              <a:rPr lang="en-IN" sz="2200" dirty="0">
                <a:latin typeface="Times New Roman" panose="02020603050405020304" pitchFamily="18" charset="0"/>
                <a:cs typeface="Times New Roman" panose="02020603050405020304" pitchFamily="18" charset="0"/>
              </a:rPr>
              <a:t>, including database connection details (for MySQL) and model parameters.</a:t>
            </a:r>
          </a:p>
          <a:p>
            <a:pPr algn="just"/>
            <a:r>
              <a:rPr lang="en-IN" sz="2200" b="1" dirty="0">
                <a:latin typeface="Times New Roman" panose="02020603050405020304" pitchFamily="18" charset="0"/>
                <a:cs typeface="Times New Roman" panose="02020603050405020304" pitchFamily="18" charset="0"/>
              </a:rPr>
              <a:t>models</a:t>
            </a:r>
            <a:r>
              <a:rPr lang="en-IN" sz="2200" dirty="0">
                <a:latin typeface="Times New Roman" panose="02020603050405020304" pitchFamily="18" charset="0"/>
                <a:cs typeface="Times New Roman" panose="02020603050405020304" pitchFamily="18" charset="0"/>
              </a:rPr>
              <a:t>: Python files defining the </a:t>
            </a:r>
            <a:r>
              <a:rPr lang="en-IN" sz="2200" b="1" dirty="0">
                <a:latin typeface="Times New Roman" panose="02020603050405020304" pitchFamily="18" charset="0"/>
                <a:cs typeface="Times New Roman" panose="02020603050405020304" pitchFamily="18" charset="0"/>
              </a:rPr>
              <a:t>data structures (models)</a:t>
            </a:r>
            <a:r>
              <a:rPr lang="en-IN" sz="2200" dirty="0">
                <a:latin typeface="Times New Roman" panose="02020603050405020304" pitchFamily="18" charset="0"/>
                <a:cs typeface="Times New Roman" panose="02020603050405020304" pitchFamily="18" charset="0"/>
              </a:rPr>
              <a:t> that map to the </a:t>
            </a:r>
            <a:r>
              <a:rPr lang="en-IN" sz="2200" b="1" dirty="0">
                <a:latin typeface="Times New Roman" panose="02020603050405020304" pitchFamily="18" charset="0"/>
                <a:cs typeface="Times New Roman" panose="02020603050405020304" pitchFamily="18" charset="0"/>
              </a:rPr>
              <a:t>MySQL database tables</a:t>
            </a:r>
            <a:r>
              <a:rPr lang="en-IN" sz="2200" dirty="0">
                <a:latin typeface="Times New Roman" panose="02020603050405020304" pitchFamily="18" charset="0"/>
                <a:cs typeface="Times New Roman" panose="02020603050405020304" pitchFamily="18" charset="0"/>
              </a:rPr>
              <a:t> (e.g., Patient, Doctor, X-Ray Reports).</a:t>
            </a:r>
          </a:p>
          <a:p>
            <a:pPr algn="just"/>
            <a:r>
              <a:rPr lang="en-IN" sz="2200" b="1" dirty="0">
                <a:latin typeface="Times New Roman" panose="02020603050405020304" pitchFamily="18" charset="0"/>
                <a:cs typeface="Times New Roman" panose="02020603050405020304" pitchFamily="18" charset="0"/>
              </a:rPr>
              <a:t>routes</a:t>
            </a:r>
            <a:r>
              <a:rPr lang="en-IN" sz="2200" dirty="0">
                <a:latin typeface="Times New Roman" panose="02020603050405020304" pitchFamily="18" charset="0"/>
                <a:cs typeface="Times New Roman" panose="02020603050405020304" pitchFamily="18" charset="0"/>
              </a:rPr>
              <a:t>: Defines the application's </a:t>
            </a:r>
            <a:r>
              <a:rPr lang="en-IN" sz="2200" b="1" dirty="0">
                <a:latin typeface="Times New Roman" panose="02020603050405020304" pitchFamily="18" charset="0"/>
                <a:cs typeface="Times New Roman" panose="02020603050405020304" pitchFamily="18" charset="0"/>
              </a:rPr>
              <a:t>URL patterns and routing logic</a:t>
            </a:r>
            <a:r>
              <a:rPr lang="en-IN" sz="2200" dirty="0">
                <a:latin typeface="Times New Roman" panose="02020603050405020304" pitchFamily="18" charset="0"/>
                <a:cs typeface="Times New Roman" panose="02020603050405020304" pitchFamily="18" charset="0"/>
              </a:rPr>
              <a:t>, directing browser requests to the correct backend functions.</a:t>
            </a:r>
          </a:p>
          <a:p>
            <a:pPr algn="just"/>
            <a:r>
              <a:rPr lang="en-IN" sz="2200" b="1" dirty="0">
                <a:latin typeface="Times New Roman" panose="02020603050405020304" pitchFamily="18" charset="0"/>
                <a:cs typeface="Times New Roman" panose="02020603050405020304" pitchFamily="18" charset="0"/>
              </a:rPr>
              <a:t>utils</a:t>
            </a:r>
            <a:r>
              <a:rPr lang="en-IN" sz="2200" dirty="0">
                <a:latin typeface="Times New Roman" panose="02020603050405020304" pitchFamily="18" charset="0"/>
                <a:cs typeface="Times New Roman" panose="02020603050405020304" pitchFamily="18" charset="0"/>
              </a:rPr>
              <a:t>: Contains </a:t>
            </a:r>
            <a:r>
              <a:rPr lang="en-IN" sz="2200" b="1" dirty="0">
                <a:latin typeface="Times New Roman" panose="02020603050405020304" pitchFamily="18" charset="0"/>
                <a:cs typeface="Times New Roman" panose="02020603050405020304" pitchFamily="18" charset="0"/>
              </a:rPr>
              <a:t>auxiliary Python functions</a:t>
            </a:r>
            <a:r>
              <a:rPr lang="en-IN" sz="2200" dirty="0">
                <a:latin typeface="Times New Roman" panose="02020603050405020304" pitchFamily="18" charset="0"/>
                <a:cs typeface="Times New Roman" panose="02020603050405020304" pitchFamily="18" charset="0"/>
              </a:rPr>
              <a:t>, likely responsible for common tasks such as </a:t>
            </a:r>
            <a:r>
              <a:rPr lang="en-IN" sz="2200" b="1" dirty="0">
                <a:latin typeface="Times New Roman" panose="02020603050405020304" pitchFamily="18" charset="0"/>
                <a:cs typeface="Times New Roman" panose="02020603050405020304" pitchFamily="18" charset="0"/>
              </a:rPr>
              <a:t>password encryption</a:t>
            </a:r>
            <a:r>
              <a:rPr lang="en-IN" sz="2200" dirty="0">
                <a:latin typeface="Times New Roman" panose="02020603050405020304" pitchFamily="18" charset="0"/>
                <a:cs typeface="Times New Roman" panose="02020603050405020304" pitchFamily="18" charset="0"/>
              </a:rPr>
              <a:t> and file system operations.</a:t>
            </a:r>
          </a:p>
        </p:txBody>
      </p:sp>
      <p:pic>
        <p:nvPicPr>
          <p:cNvPr id="10" name="Picture 9" descr="A screenshot of a computer&#10;&#10;AI-generated content may be incorrect.">
            <a:extLst>
              <a:ext uri="{FF2B5EF4-FFF2-40B4-BE49-F238E27FC236}">
                <a16:creationId xmlns:a16="http://schemas.microsoft.com/office/drawing/2014/main" id="{4F12BD47-85DC-429A-B728-ADF360E63153}"/>
              </a:ext>
            </a:extLst>
          </p:cNvPr>
          <p:cNvPicPr>
            <a:picLocks noChangeAspect="1"/>
          </p:cNvPicPr>
          <p:nvPr/>
        </p:nvPicPr>
        <p:blipFill>
          <a:blip r:embed="rId2"/>
          <a:stretch>
            <a:fillRect/>
          </a:stretch>
        </p:blipFill>
        <p:spPr>
          <a:xfrm>
            <a:off x="9877597" y="1272551"/>
            <a:ext cx="7744906" cy="772585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
        <p:nvSpPr>
          <p:cNvPr id="5" name="TextBox 4"/>
          <p:cNvSpPr txBox="1"/>
          <p:nvPr/>
        </p:nvSpPr>
        <p:spPr>
          <a:xfrm>
            <a:off x="7853515" y="342826"/>
            <a:ext cx="2580970" cy="1015663"/>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Module 2</a:t>
            </a:r>
          </a:p>
          <a:p>
            <a:endParaRPr lang="en-IN" sz="3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2ACCD7A-500C-2BC2-E801-9EDC6E325BCE}"/>
              </a:ext>
            </a:extLst>
          </p:cNvPr>
          <p:cNvSpPr txBox="1"/>
          <p:nvPr/>
        </p:nvSpPr>
        <p:spPr>
          <a:xfrm>
            <a:off x="598656" y="1358489"/>
            <a:ext cx="9511343" cy="8094524"/>
          </a:xfrm>
          <a:prstGeom prst="rect">
            <a:avLst/>
          </a:prstGeom>
          <a:noFill/>
        </p:spPr>
        <p:txBody>
          <a:bodyPr wrap="square">
            <a:spAutoFit/>
          </a:bodyPr>
          <a:lstStyle/>
          <a:p>
            <a:pPr algn="just"/>
            <a:r>
              <a:rPr lang="en-IN" sz="2200" b="1" dirty="0">
                <a:latin typeface="Times New Roman" panose="02020603050405020304" pitchFamily="18" charset="0"/>
                <a:cs typeface="Times New Roman" panose="02020603050405020304" pitchFamily="18" charset="0"/>
              </a:rPr>
              <a:t>YOLO Algorithm:</a:t>
            </a: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system uses an advanced Convolutional Neural Network (CNN) for detecting bone fractures in X-ray images.</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specific model implemented is YOLO, which is known for real-time object detection with high accuracy and speed.</a:t>
            </a: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Single-Pass Prediction</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Unlike other models that scan the image multiple times, YOLO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the entire X-ray in one forward pass.</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predicts:</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Bounding boxes around the fracture area</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Class labels (example: Humerus, Elbow Positive)</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Severity score or confidence value</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Grid-Based Detection</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X-ray is divided into a grid.</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Each grid cell predicts whether a fracture exists in that region.</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This makes detection fast and localized.</a:t>
            </a:r>
          </a:p>
        </p:txBody>
      </p:sp>
      <p:pic>
        <p:nvPicPr>
          <p:cNvPr id="10" name="Picture 9" descr="A screenshot of a computer program&#10;&#10;AI-generated content may be incorrect.">
            <a:extLst>
              <a:ext uri="{FF2B5EF4-FFF2-40B4-BE49-F238E27FC236}">
                <a16:creationId xmlns:a16="http://schemas.microsoft.com/office/drawing/2014/main" id="{E2B65F33-9D23-CC03-2221-547C35225E28}"/>
              </a:ext>
            </a:extLst>
          </p:cNvPr>
          <p:cNvPicPr>
            <a:picLocks noChangeAspect="1"/>
          </p:cNvPicPr>
          <p:nvPr/>
        </p:nvPicPr>
        <p:blipFill>
          <a:blip r:embed="rId2"/>
          <a:stretch>
            <a:fillRect/>
          </a:stretch>
        </p:blipFill>
        <p:spPr>
          <a:xfrm>
            <a:off x="10455138" y="1075757"/>
            <a:ext cx="7234206" cy="81354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5" name="Rectangle 4"/>
          <p:cNvSpPr/>
          <p:nvPr/>
        </p:nvSpPr>
        <p:spPr>
          <a:xfrm>
            <a:off x="1753208" y="616800"/>
            <a:ext cx="14781583" cy="584775"/>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Step 3:YOLO Algorithm</a:t>
            </a:r>
            <a:endParaRPr lang="en-US"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F29E58C-E5D1-77F9-8C00-4171A646BE14}"/>
              </a:ext>
            </a:extLst>
          </p:cNvPr>
          <p:cNvSpPr txBox="1"/>
          <p:nvPr/>
        </p:nvSpPr>
        <p:spPr>
          <a:xfrm>
            <a:off x="756924" y="1843549"/>
            <a:ext cx="16061802" cy="6432530"/>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Definition:</a:t>
            </a:r>
          </a:p>
          <a:p>
            <a:pPr algn="just"/>
            <a:r>
              <a:rPr lang="en-US" sz="2400" dirty="0">
                <a:latin typeface="Times New Roman" panose="02020603050405020304" pitchFamily="18" charset="0"/>
                <a:cs typeface="Times New Roman" panose="02020603050405020304" pitchFamily="18" charset="0"/>
              </a:rPr>
              <a:t>The core of the detection system is the YOLO (You Only Look Once) algorithm, a highly efficient, single-stage Convolutional Neural Network (CNN) designed for real-time object detection. Unlike older systems that require multiple steps (like region proposal followed by classification), YOLO processes the entire X-ray image in a single forward pass. It divides the image into a grid and simultaneously predicts the bounding box coordinates and class probabilities for each grid cell. This unified architecture allows it to achieve high inference speed while maintaining high accuracy, which is critical for quick diagnostic assistance in a clinical setting. The model is initialized with pre-trained weights and then fine-tuned on the annotated X-ray dataset, adapting its feature extraction capabilities specifically for identifying subtle bone fracture patterns.</a:t>
            </a:r>
          </a:p>
          <a:p>
            <a:r>
              <a:rPr lang="en-US" sz="2600" b="1" dirty="0">
                <a:latin typeface="Times New Roman" panose="02020603050405020304" pitchFamily="18" charset="0"/>
                <a:cs typeface="Times New Roman" panose="02020603050405020304" pitchFamily="18" charset="0"/>
              </a:rPr>
              <a:t>How YOLO Works in the Project:</a:t>
            </a:r>
          </a:p>
          <a:p>
            <a:pPr algn="just"/>
            <a:r>
              <a:rPr lang="en-US" sz="2400" dirty="0">
                <a:latin typeface="Times New Roman" panose="02020603050405020304" pitchFamily="18" charset="0"/>
                <a:cs typeface="Times New Roman" panose="02020603050405020304" pitchFamily="18" charset="0"/>
              </a:rPr>
              <a:t>When a patient uploads an X-ray via the web application, the image is passed to the Python </a:t>
            </a:r>
            <a:r>
              <a:rPr lang="en-US" sz="2400" dirty="0" err="1">
                <a:latin typeface="Times New Roman" panose="02020603050405020304" pitchFamily="18" charset="0"/>
                <a:cs typeface="Times New Roman" panose="02020603050405020304" pitchFamily="18" charset="0"/>
              </a:rPr>
              <a:t>backend's</a:t>
            </a:r>
            <a:r>
              <a:rPr lang="en-US" sz="2400" dirty="0">
                <a:latin typeface="Times New Roman" panose="02020603050405020304" pitchFamily="18" charset="0"/>
                <a:cs typeface="Times New Roman" panose="02020603050405020304" pitchFamily="18" charset="0"/>
              </a:rPr>
              <a:t> YOLO Fracture Detection Engine. The engine loads the fine-tuned YOLO model (yolo_fracture.pt) and performs inference on the image. In a single computational step, YOLO scans the X-ray, identifies regions containing fractures, and outputs a set of predictions. Each prediction consists of a bounding box precisely localizing the fracture, the predicted class label (e.g., 'Humerus' or 'Elbow Positive') specifying the fracture type, and a confidence score indicating the model's certainty. This output is instantly returned to the Doctor Interface, where the X-ray is displayed overlaid with the visual bounding box and classification. This visual and classified result serves as AI-powered assistance to the doctor, helping them to quickly confirm the type and severity of the injury, streamlining the process of providing a final diagnosis and prescription, with all results saved securely in the MySQL database.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
        <p:nvSpPr>
          <p:cNvPr id="6" name="Rectangle 5"/>
          <p:cNvSpPr/>
          <p:nvPr/>
        </p:nvSpPr>
        <p:spPr>
          <a:xfrm>
            <a:off x="6674177" y="682472"/>
            <a:ext cx="10037086" cy="584775"/>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Step 4: The output</a:t>
            </a:r>
          </a:p>
        </p:txBody>
      </p:sp>
      <p:pic>
        <p:nvPicPr>
          <p:cNvPr id="10" name="Picture 9">
            <a:extLst>
              <a:ext uri="{FF2B5EF4-FFF2-40B4-BE49-F238E27FC236}">
                <a16:creationId xmlns:a16="http://schemas.microsoft.com/office/drawing/2014/main" id="{C3E36196-B5DD-41FC-71C7-A4B0647B0A91}"/>
              </a:ext>
            </a:extLst>
          </p:cNvPr>
          <p:cNvPicPr>
            <a:picLocks noChangeAspect="1"/>
          </p:cNvPicPr>
          <p:nvPr/>
        </p:nvPicPr>
        <p:blipFill>
          <a:blip r:embed="rId2"/>
          <a:stretch>
            <a:fillRect/>
          </a:stretch>
        </p:blipFill>
        <p:spPr>
          <a:xfrm>
            <a:off x="604683" y="1922979"/>
            <a:ext cx="7447936" cy="6466093"/>
          </a:xfrm>
          <a:prstGeom prst="rect">
            <a:avLst/>
          </a:prstGeom>
        </p:spPr>
      </p:pic>
      <p:pic>
        <p:nvPicPr>
          <p:cNvPr id="12" name="Picture 11">
            <a:extLst>
              <a:ext uri="{FF2B5EF4-FFF2-40B4-BE49-F238E27FC236}">
                <a16:creationId xmlns:a16="http://schemas.microsoft.com/office/drawing/2014/main" id="{9E277AD4-26A5-203C-8DE9-26849466C560}"/>
              </a:ext>
            </a:extLst>
          </p:cNvPr>
          <p:cNvPicPr>
            <a:picLocks noChangeAspect="1"/>
          </p:cNvPicPr>
          <p:nvPr/>
        </p:nvPicPr>
        <p:blipFill>
          <a:blip r:embed="rId3"/>
          <a:stretch>
            <a:fillRect/>
          </a:stretch>
        </p:blipFill>
        <p:spPr>
          <a:xfrm>
            <a:off x="9144000" y="2116486"/>
            <a:ext cx="8539317" cy="61291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
        <p:nvSpPr>
          <p:cNvPr id="5" name="Rectangle 4"/>
          <p:cNvSpPr/>
          <p:nvPr/>
        </p:nvSpPr>
        <p:spPr>
          <a:xfrm>
            <a:off x="581890" y="282924"/>
            <a:ext cx="17020309" cy="646331"/>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IMPLEMENTATION</a:t>
            </a:r>
            <a:endParaRPr lang="en-IN" sz="3600" dirty="0"/>
          </a:p>
        </p:txBody>
      </p:sp>
      <p:sp>
        <p:nvSpPr>
          <p:cNvPr id="6" name="Rectangle 5"/>
          <p:cNvSpPr/>
          <p:nvPr/>
        </p:nvSpPr>
        <p:spPr>
          <a:xfrm>
            <a:off x="1039091" y="1703338"/>
            <a:ext cx="9144000" cy="4031873"/>
          </a:xfrm>
          <a:prstGeom prst="rect">
            <a:avLst/>
          </a:prstGeom>
        </p:spPr>
        <p:txBody>
          <a:bodyPr>
            <a:spAutoFit/>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Architecture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Data –Flow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Use Case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Class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Activity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Sequence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Collaboration Diagram(If applicable)</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E-R Diagram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
        <p:nvSpPr>
          <p:cNvPr id="5" name="Rectangle 4"/>
          <p:cNvSpPr/>
          <p:nvPr/>
        </p:nvSpPr>
        <p:spPr>
          <a:xfrm>
            <a:off x="498764" y="768927"/>
            <a:ext cx="16521545"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Architecture Diagram</a:t>
            </a:r>
          </a:p>
        </p:txBody>
      </p:sp>
      <p:sp>
        <p:nvSpPr>
          <p:cNvPr id="6" name="TextBox 5"/>
          <p:cNvSpPr txBox="1"/>
          <p:nvPr/>
        </p:nvSpPr>
        <p:spPr>
          <a:xfrm>
            <a:off x="635856" y="1777081"/>
            <a:ext cx="8123680" cy="6370975"/>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Architecture Explanation: System Sequence Flow:</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operates in a clear sequence involving the user, the server, the AI, and the database.</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Authentication:</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Patient/Doctor</a:t>
            </a:r>
            <a:r>
              <a:rPr lang="en-US" sz="2400" dirty="0">
                <a:latin typeface="Times New Roman" panose="02020603050405020304" pitchFamily="18" charset="0"/>
                <a:cs typeface="Times New Roman" panose="02020603050405020304" pitchFamily="18" charset="0"/>
              </a:rPr>
              <a:t> logs in. The </a:t>
            </a:r>
            <a:r>
              <a:rPr lang="en-US" sz="2400" b="1" dirty="0">
                <a:latin typeface="Times New Roman" panose="02020603050405020304" pitchFamily="18" charset="0"/>
                <a:cs typeface="Times New Roman" panose="02020603050405020304" pitchFamily="18" charset="0"/>
              </a:rPr>
              <a:t>Flask Server (F)</a:t>
            </a:r>
            <a:r>
              <a:rPr lang="en-US" sz="2400" dirty="0">
                <a:latin typeface="Times New Roman" panose="02020603050405020304" pitchFamily="18" charset="0"/>
                <a:cs typeface="Times New Roman" panose="02020603050405020304" pitchFamily="18" charset="0"/>
              </a:rPr>
              <a:t> verifies the user's role against the </a:t>
            </a:r>
            <a:r>
              <a:rPr lang="en-US" sz="2400" b="1" dirty="0">
                <a:latin typeface="Times New Roman" panose="02020603050405020304" pitchFamily="18" charset="0"/>
                <a:cs typeface="Times New Roman" panose="02020603050405020304" pitchFamily="18" charset="0"/>
              </a:rPr>
              <a:t>Database (DB)</a:t>
            </a:r>
            <a:r>
              <a:rPr lang="en-US" sz="2400" dirty="0">
                <a:latin typeface="Times New Roman" panose="02020603050405020304" pitchFamily="18" charset="0"/>
                <a:cs typeface="Times New Roman" panose="02020603050405020304" pitchFamily="18" charset="0"/>
              </a:rPr>
              <a:t> and directs them to the correct dashboard.</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AI Processing:</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Patient</a:t>
            </a:r>
            <a:r>
              <a:rPr lang="en-US" sz="2400" dirty="0">
                <a:latin typeface="Times New Roman" panose="02020603050405020304" pitchFamily="18" charset="0"/>
                <a:cs typeface="Times New Roman" panose="02020603050405020304" pitchFamily="18" charset="0"/>
              </a:rPr>
              <a:t> uploads an X-ray.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saves the file and triggers the </a:t>
            </a:r>
            <a:r>
              <a:rPr lang="en-US" sz="2400" b="1" dirty="0">
                <a:latin typeface="Times New Roman" panose="02020603050405020304" pitchFamily="18" charset="0"/>
                <a:cs typeface="Times New Roman" panose="02020603050405020304" pitchFamily="18" charset="0"/>
              </a:rPr>
              <a:t>YOLO AI Module (Y)</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Y</a:t>
            </a:r>
            <a:r>
              <a:rPr lang="en-US" sz="2400" dirty="0">
                <a:latin typeface="Times New Roman" panose="02020603050405020304" pitchFamily="18" charset="0"/>
                <a:cs typeface="Times New Roman" panose="02020603050405020304" pitchFamily="18" charset="0"/>
              </a:rPr>
              <a:t> returns the prediction to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which updates the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 with the AI result and sets the scan status to </a:t>
            </a:r>
            <a:r>
              <a:rPr lang="en-US" sz="2400" b="1" dirty="0">
                <a:latin typeface="Times New Roman" panose="02020603050405020304" pitchFamily="18" charset="0"/>
                <a:cs typeface="Times New Roman" panose="02020603050405020304" pitchFamily="18" charset="0"/>
              </a:rPr>
              <a:t>Pending</a:t>
            </a:r>
            <a:r>
              <a:rPr lang="en-US" sz="24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Doctor Review:</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Doctor</a:t>
            </a:r>
            <a:r>
              <a:rPr lang="en-US" sz="2400" dirty="0">
                <a:latin typeface="Times New Roman" panose="02020603050405020304" pitchFamily="18" charset="0"/>
                <a:cs typeface="Times New Roman" panose="02020603050405020304" pitchFamily="18" charset="0"/>
              </a:rPr>
              <a:t> accesses the scan from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retrieves the image and AI data from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 and renders the review page. The Doctor submits the final diagnosis, and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updates the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 accordingly.</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Final Report:</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Patient</a:t>
            </a:r>
            <a:r>
              <a:rPr lang="en-US" sz="2400" dirty="0">
                <a:latin typeface="Times New Roman" panose="02020603050405020304" pitchFamily="18" charset="0"/>
                <a:cs typeface="Times New Roman" panose="02020603050405020304" pitchFamily="18" charset="0"/>
              </a:rPr>
              <a:t> checks their dashboard, where </a:t>
            </a:r>
            <a:r>
              <a:rPr lang="en-US" sz="2400" b="1"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retrieves and displays the Doctor's </a:t>
            </a:r>
            <a:r>
              <a:rPr lang="en-US" sz="2400" b="1" dirty="0">
                <a:latin typeface="Times New Roman" panose="02020603050405020304" pitchFamily="18" charset="0"/>
                <a:cs typeface="Times New Roman" panose="02020603050405020304" pitchFamily="18" charset="0"/>
              </a:rPr>
              <a:t>final, authenticated report</a:t>
            </a:r>
            <a:r>
              <a:rPr lang="en-US" sz="2400" dirty="0">
                <a:latin typeface="Times New Roman" panose="02020603050405020304" pitchFamily="18" charset="0"/>
                <a:cs typeface="Times New Roman" panose="02020603050405020304" pitchFamily="18" charset="0"/>
              </a:rPr>
              <a:t> from </a:t>
            </a:r>
            <a:r>
              <a:rPr lang="en-US" sz="2400" b="1" dirty="0">
                <a:latin typeface="Times New Roman" panose="02020603050405020304" pitchFamily="18" charset="0"/>
                <a:cs typeface="Times New Roman" panose="02020603050405020304" pitchFamily="18" charset="0"/>
              </a:rPr>
              <a:t>DB</a:t>
            </a:r>
            <a:r>
              <a:rPr lang="en-US" sz="2400" dirty="0">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FB77C554-5A31-A941-B44A-8732AC2F6F65}"/>
              </a:ext>
            </a:extLst>
          </p:cNvPr>
          <p:cNvPicPr>
            <a:picLocks noChangeAspect="1"/>
          </p:cNvPicPr>
          <p:nvPr/>
        </p:nvPicPr>
        <p:blipFill>
          <a:blip r:embed="rId2"/>
          <a:stretch>
            <a:fillRect/>
          </a:stretch>
        </p:blipFill>
        <p:spPr>
          <a:xfrm>
            <a:off x="10589344" y="1659094"/>
            <a:ext cx="7372196" cy="74111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sp>
        <p:nvSpPr>
          <p:cNvPr id="5" name="Rectangle 4"/>
          <p:cNvSpPr/>
          <p:nvPr/>
        </p:nvSpPr>
        <p:spPr>
          <a:xfrm>
            <a:off x="774378" y="594652"/>
            <a:ext cx="17014857"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Data –Flow Diagram</a:t>
            </a:r>
          </a:p>
        </p:txBody>
      </p:sp>
      <p:pic>
        <p:nvPicPr>
          <p:cNvPr id="10" name="Picture 9">
            <a:extLst>
              <a:ext uri="{FF2B5EF4-FFF2-40B4-BE49-F238E27FC236}">
                <a16:creationId xmlns:a16="http://schemas.microsoft.com/office/drawing/2014/main" id="{18111D1E-CCFD-2CB3-C1B0-BFBC92CD2293}"/>
              </a:ext>
            </a:extLst>
          </p:cNvPr>
          <p:cNvPicPr>
            <a:picLocks noChangeAspect="1"/>
          </p:cNvPicPr>
          <p:nvPr/>
        </p:nvPicPr>
        <p:blipFill>
          <a:blip r:embed="rId2"/>
          <a:stretch>
            <a:fillRect/>
          </a:stretch>
        </p:blipFill>
        <p:spPr>
          <a:xfrm>
            <a:off x="10197434" y="1885950"/>
            <a:ext cx="6181725" cy="6515100"/>
          </a:xfrm>
          <a:prstGeom prst="rect">
            <a:avLst/>
          </a:prstGeom>
        </p:spPr>
      </p:pic>
      <p:sp>
        <p:nvSpPr>
          <p:cNvPr id="14" name="TextBox 13">
            <a:extLst>
              <a:ext uri="{FF2B5EF4-FFF2-40B4-BE49-F238E27FC236}">
                <a16:creationId xmlns:a16="http://schemas.microsoft.com/office/drawing/2014/main" id="{8957BFF9-2E1D-C09D-EE26-781723C748F4}"/>
              </a:ext>
            </a:extLst>
          </p:cNvPr>
          <p:cNvSpPr txBox="1"/>
          <p:nvPr/>
        </p:nvSpPr>
        <p:spPr>
          <a:xfrm>
            <a:off x="663678" y="1885950"/>
            <a:ext cx="8545412" cy="5909310"/>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is organized around three main data handling processes, ensuring secure movement and storage of information:</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User Management (P1):</a:t>
            </a:r>
            <a:r>
              <a:rPr lang="en-US" sz="2400" dirty="0">
                <a:latin typeface="Times New Roman" panose="02020603050405020304" pitchFamily="18" charset="0"/>
                <a:cs typeface="Times New Roman" panose="02020603050405020304" pitchFamily="18" charset="0"/>
              </a:rPr>
              <a:t> Patients and Doctors provide </a:t>
            </a:r>
            <a:r>
              <a:rPr lang="en-US" sz="2400" b="1" dirty="0">
                <a:latin typeface="Times New Roman" panose="02020603050405020304" pitchFamily="18" charset="0"/>
                <a:cs typeface="Times New Roman" panose="02020603050405020304" pitchFamily="18" charset="0"/>
              </a:rPr>
              <a:t>Credentials</a:t>
            </a:r>
            <a:r>
              <a:rPr lang="en-US" sz="2400" dirty="0">
                <a:latin typeface="Times New Roman" panose="02020603050405020304" pitchFamily="18" charset="0"/>
                <a:cs typeface="Times New Roman" panose="02020603050405020304" pitchFamily="18" charset="0"/>
              </a:rPr>
              <a:t> to the server, which verifies them against the </a:t>
            </a:r>
            <a:r>
              <a:rPr lang="en-US" sz="2400" b="1" dirty="0">
                <a:latin typeface="Times New Roman" panose="02020603050405020304" pitchFamily="18" charset="0"/>
                <a:cs typeface="Times New Roman" panose="02020603050405020304" pitchFamily="18" charset="0"/>
              </a:rPr>
              <a:t>DS1 (User/Role Records)</a:t>
            </a:r>
            <a:r>
              <a:rPr lang="en-US" sz="2400" dirty="0">
                <a:latin typeface="Times New Roman" panose="02020603050405020304" pitchFamily="18" charset="0"/>
                <a:cs typeface="Times New Roman" panose="02020603050405020304" pitchFamily="18" charset="0"/>
              </a:rPr>
              <a:t> and determines access rights.</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Scan Upload &amp; AI Processing (P2):</a:t>
            </a:r>
            <a:r>
              <a:rPr lang="en-US" sz="2400" dirty="0">
                <a:latin typeface="Times New Roman" panose="02020603050405020304" pitchFamily="18" charset="0"/>
                <a:cs typeface="Times New Roman" panose="02020603050405020304" pitchFamily="18" charset="0"/>
              </a:rPr>
              <a:t> The Patient uploads the </a:t>
            </a:r>
            <a:r>
              <a:rPr lang="en-US" sz="2400" b="1" dirty="0">
                <a:latin typeface="Times New Roman" panose="02020603050405020304" pitchFamily="18" charset="0"/>
                <a:cs typeface="Times New Roman" panose="02020603050405020304" pitchFamily="18" charset="0"/>
              </a:rPr>
              <a:t>X-ray File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P2</a:t>
            </a:r>
            <a:r>
              <a:rPr lang="en-US" sz="2400" dirty="0">
                <a:latin typeface="Times New Roman" panose="02020603050405020304" pitchFamily="18" charset="0"/>
                <a:cs typeface="Times New Roman" panose="02020603050405020304" pitchFamily="18" charset="0"/>
              </a:rPr>
              <a:t> saves the image to </a:t>
            </a:r>
            <a:r>
              <a:rPr lang="en-US" sz="2400" b="1" dirty="0">
                <a:latin typeface="Times New Roman" panose="02020603050405020304" pitchFamily="18" charset="0"/>
                <a:cs typeface="Times New Roman" panose="02020603050405020304" pitchFamily="18" charset="0"/>
              </a:rPr>
              <a:t>DS3</a:t>
            </a:r>
            <a:r>
              <a:rPr lang="en-US" sz="2400" dirty="0">
                <a:latin typeface="Times New Roman" panose="02020603050405020304" pitchFamily="18" charset="0"/>
                <a:cs typeface="Times New Roman" panose="02020603050405020304" pitchFamily="18" charset="0"/>
              </a:rPr>
              <a:t> and records the scan details in </a:t>
            </a:r>
            <a:r>
              <a:rPr lang="en-US" sz="2400" b="1" dirty="0">
                <a:latin typeface="Times New Roman" panose="02020603050405020304" pitchFamily="18" charset="0"/>
                <a:cs typeface="Times New Roman" panose="02020603050405020304" pitchFamily="18" charset="0"/>
              </a:rPr>
              <a:t>DS2 (Scan Metadata)</a:t>
            </a:r>
            <a:r>
              <a:rPr lang="en-US" sz="2400" dirty="0">
                <a:latin typeface="Times New Roman" panose="02020603050405020304" pitchFamily="18" charset="0"/>
                <a:cs typeface="Times New Roman" panose="02020603050405020304" pitchFamily="18" charset="0"/>
              </a:rPr>
              <a:t>. It then loads the </a:t>
            </a:r>
            <a:r>
              <a:rPr lang="en-US" sz="2400" b="1" dirty="0">
                <a:latin typeface="Times New Roman" panose="02020603050405020304" pitchFamily="18" charset="0"/>
                <a:cs typeface="Times New Roman" panose="02020603050405020304" pitchFamily="18" charset="0"/>
              </a:rPr>
              <a:t>YOLO Model Weights (DS4)</a:t>
            </a:r>
            <a:r>
              <a:rPr lang="en-US" sz="2400" dirty="0">
                <a:latin typeface="Times New Roman" panose="02020603050405020304" pitchFamily="18" charset="0"/>
                <a:cs typeface="Times New Roman" panose="02020603050405020304" pitchFamily="18" charset="0"/>
              </a:rPr>
              <a:t> and stores the resulting </a:t>
            </a:r>
            <a:r>
              <a:rPr lang="en-US" sz="2400" b="1" dirty="0">
                <a:latin typeface="Times New Roman" panose="02020603050405020304" pitchFamily="18" charset="0"/>
                <a:cs typeface="Times New Roman" panose="02020603050405020304" pitchFamily="18" charset="0"/>
              </a:rPr>
              <a:t>AI Prediction &amp; Confidence</a:t>
            </a:r>
            <a:r>
              <a:rPr lang="en-US" sz="2400" dirty="0">
                <a:latin typeface="Times New Roman" panose="02020603050405020304" pitchFamily="18" charset="0"/>
                <a:cs typeface="Times New Roman" panose="02020603050405020304" pitchFamily="18" charset="0"/>
              </a:rPr>
              <a:t> back into </a:t>
            </a:r>
            <a:r>
              <a:rPr lang="en-US" sz="2400" b="1" dirty="0">
                <a:latin typeface="Times New Roman" panose="02020603050405020304" pitchFamily="18" charset="0"/>
                <a:cs typeface="Times New Roman" panose="02020603050405020304" pitchFamily="18" charset="0"/>
              </a:rPr>
              <a:t>DS2</a:t>
            </a:r>
            <a:r>
              <a:rPr lang="en-US" sz="24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Doctor Review &amp; Reporting (P3):</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Doctor</a:t>
            </a:r>
            <a:r>
              <a:rPr lang="en-US" sz="2400" dirty="0">
                <a:latin typeface="Times New Roman" panose="02020603050405020304" pitchFamily="18" charset="0"/>
                <a:cs typeface="Times New Roman" panose="02020603050405020304" pitchFamily="18" charset="0"/>
              </a:rPr>
              <a:t> receives pending scans from </a:t>
            </a:r>
            <a:r>
              <a:rPr lang="en-US" sz="2400" b="1" dirty="0">
                <a:latin typeface="Times New Roman" panose="02020603050405020304" pitchFamily="18" charset="0"/>
                <a:cs typeface="Times New Roman" panose="02020603050405020304" pitchFamily="18" charset="0"/>
              </a:rPr>
              <a:t>DS2</a:t>
            </a:r>
            <a:r>
              <a:rPr lang="en-US" sz="2400" dirty="0">
                <a:latin typeface="Times New Roman" panose="02020603050405020304" pitchFamily="18" charset="0"/>
                <a:cs typeface="Times New Roman" panose="02020603050405020304" pitchFamily="18" charset="0"/>
              </a:rPr>
              <a:t> and retrieves the X-ray from </a:t>
            </a:r>
            <a:r>
              <a:rPr lang="en-US" sz="2400" b="1" dirty="0">
                <a:latin typeface="Times New Roman" panose="02020603050405020304" pitchFamily="18" charset="0"/>
                <a:cs typeface="Times New Roman" panose="02020603050405020304" pitchFamily="18" charset="0"/>
              </a:rPr>
              <a:t>DS3</a:t>
            </a:r>
            <a:r>
              <a:rPr lang="en-US" sz="2400" dirty="0">
                <a:latin typeface="Times New Roman" panose="02020603050405020304" pitchFamily="18" charset="0"/>
                <a:cs typeface="Times New Roman" panose="02020603050405020304" pitchFamily="18" charset="0"/>
              </a:rPr>
              <a:t>. After providing the </a:t>
            </a:r>
            <a:r>
              <a:rPr lang="en-US" sz="2400" b="1" dirty="0">
                <a:latin typeface="Times New Roman" panose="02020603050405020304" pitchFamily="18" charset="0"/>
                <a:cs typeface="Times New Roman" panose="02020603050405020304" pitchFamily="18" charset="0"/>
              </a:rPr>
              <a:t>Final Diagnosis and Written Report</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P3</a:t>
            </a:r>
            <a:r>
              <a:rPr lang="en-US" sz="2400" dirty="0">
                <a:latin typeface="Times New Roman" panose="02020603050405020304" pitchFamily="18" charset="0"/>
                <a:cs typeface="Times New Roman" panose="02020603050405020304" pitchFamily="18" charset="0"/>
              </a:rPr>
              <a:t> updates the comprehensive scan record in </a:t>
            </a:r>
            <a:r>
              <a:rPr lang="en-US" sz="2400" b="1" dirty="0">
                <a:latin typeface="Times New Roman" panose="02020603050405020304" pitchFamily="18" charset="0"/>
                <a:cs typeface="Times New Roman" panose="02020603050405020304" pitchFamily="18" charset="0"/>
              </a:rPr>
              <a:t>DS2</a:t>
            </a:r>
            <a:r>
              <a:rPr lang="en-US" sz="2400" dirty="0">
                <a:latin typeface="Times New Roman" panose="02020603050405020304" pitchFamily="18" charset="0"/>
                <a:cs typeface="Times New Roman" panose="02020603050405020304" pitchFamily="18" charset="0"/>
              </a:rPr>
              <a:t>, which subsequently provides the </a:t>
            </a:r>
            <a:r>
              <a:rPr lang="en-US" sz="2400" b="1" dirty="0">
                <a:latin typeface="Times New Roman" panose="02020603050405020304" pitchFamily="18" charset="0"/>
                <a:cs typeface="Times New Roman" panose="02020603050405020304" pitchFamily="18" charset="0"/>
              </a:rPr>
              <a:t>Final Report Status</a:t>
            </a:r>
            <a:r>
              <a:rPr lang="en-US" sz="2400" dirty="0">
                <a:latin typeface="Times New Roman" panose="02020603050405020304" pitchFamily="18" charset="0"/>
                <a:cs typeface="Times New Roman" panose="02020603050405020304" pitchFamily="18" charset="0"/>
              </a:rPr>
              <a:t> to the </a:t>
            </a:r>
            <a:r>
              <a:rPr lang="en-US" sz="2400" b="1" dirty="0">
                <a:latin typeface="Times New Roman" panose="02020603050405020304" pitchFamily="18" charset="0"/>
                <a:cs typeface="Times New Roman" panose="02020603050405020304" pitchFamily="18" charset="0"/>
              </a:rPr>
              <a:t>Patient</a:t>
            </a:r>
            <a:r>
              <a:rPr lang="en-US" sz="2400"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
        <p:nvSpPr>
          <p:cNvPr id="5" name="Rectangle 4"/>
          <p:cNvSpPr/>
          <p:nvPr/>
        </p:nvSpPr>
        <p:spPr>
          <a:xfrm>
            <a:off x="7111505" y="297565"/>
            <a:ext cx="4064990"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Use Case Diagram</a:t>
            </a:r>
          </a:p>
        </p:txBody>
      </p:sp>
      <p:sp>
        <p:nvSpPr>
          <p:cNvPr id="7" name="TextBox 6"/>
          <p:cNvSpPr txBox="1"/>
          <p:nvPr/>
        </p:nvSpPr>
        <p:spPr>
          <a:xfrm>
            <a:off x="726694" y="1537854"/>
            <a:ext cx="8019100" cy="7817525"/>
          </a:xfrm>
          <a:prstGeom prst="rect">
            <a:avLst/>
          </a:prstGeom>
          <a:noFill/>
        </p:spPr>
        <p:txBody>
          <a:bodyPr wrap="square" rtlCol="0">
            <a:spAutoFit/>
          </a:bodyPr>
          <a:lstStyle/>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Upload X-ray Image (U1):</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Patient's</a:t>
            </a:r>
            <a:r>
              <a:rPr lang="en-US" sz="2200" dirty="0">
                <a:latin typeface="Times New Roman" panose="02020603050405020304" pitchFamily="18" charset="0"/>
                <a:cs typeface="Times New Roman" panose="02020603050405020304" pitchFamily="18" charset="0"/>
              </a:rPr>
              <a:t> main action. This is the entry point for the diagnostic workflow, directly leading to the AI analysis and the creation of a pending record.</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View AI Initial Result (U2):</a:t>
            </a:r>
            <a:r>
              <a:rPr lang="en-US" sz="2200" dirty="0">
                <a:latin typeface="Times New Roman" panose="02020603050405020304" pitchFamily="18" charset="0"/>
                <a:cs typeface="Times New Roman" panose="02020603050405020304" pitchFamily="18" charset="0"/>
              </a:rPr>
              <a:t> This use case </a:t>
            </a:r>
            <a:r>
              <a:rPr lang="en-US" sz="2200" b="1" dirty="0">
                <a:latin typeface="Times New Roman" panose="02020603050405020304" pitchFamily="18" charset="0"/>
                <a:cs typeface="Times New Roman" panose="02020603050405020304" pitchFamily="18" charset="0"/>
              </a:rPr>
              <a:t>follows immediately</a:t>
            </a:r>
            <a:r>
              <a:rPr lang="en-US" sz="2200" dirty="0">
                <a:latin typeface="Times New Roman" panose="02020603050405020304" pitchFamily="18" charset="0"/>
                <a:cs typeface="Times New Roman" panose="02020603050405020304" pitchFamily="18" charset="0"/>
              </a:rPr>
              <a:t> after the image upload. It gives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and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a quick, non-authoritative prediction from the YOLO model.</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View Scan History (U3):</a:t>
            </a:r>
            <a:r>
              <a:rPr lang="en-US" sz="2200" dirty="0">
                <a:latin typeface="Times New Roman" panose="02020603050405020304" pitchFamily="18" charset="0"/>
                <a:cs typeface="Times New Roman" panose="02020603050405020304" pitchFamily="18" charset="0"/>
              </a:rPr>
              <a:t> This allows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to track the status of all their submitted scans and enables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to see their assigned queue of cases awaiting review.</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Review Scan &amp; Image (U4):</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Doctor's</a:t>
            </a:r>
            <a:r>
              <a:rPr lang="en-US" sz="2200" dirty="0">
                <a:latin typeface="Times New Roman" panose="02020603050405020304" pitchFamily="18" charset="0"/>
                <a:cs typeface="Times New Roman" panose="02020603050405020304" pitchFamily="18" charset="0"/>
              </a:rPr>
              <a:t> key task. This involves retrieving and examining the X-ray file and the corresponding metadata to prepare for the final diagnosis.</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Submit Final Diagnosis (U5):</a:t>
            </a:r>
            <a:r>
              <a:rPr lang="en-US" sz="2200" dirty="0">
                <a:latin typeface="Times New Roman" panose="02020603050405020304" pitchFamily="18" charset="0"/>
                <a:cs typeface="Times New Roman" panose="02020603050405020304" pitchFamily="18" charset="0"/>
              </a:rPr>
              <a:t> The concluding action performed by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where they write the official report and set the definitive medical status (e.g., </a:t>
            </a:r>
            <a:r>
              <a:rPr lang="en-US" sz="2200" i="1" dirty="0">
                <a:latin typeface="Times New Roman" panose="02020603050405020304" pitchFamily="18" charset="0"/>
                <a:cs typeface="Times New Roman" panose="02020603050405020304" pitchFamily="18" charset="0"/>
              </a:rPr>
              <a:t>Fracture Detected</a:t>
            </a:r>
            <a:r>
              <a:rPr lang="en-US" sz="2200" dirty="0">
                <a:latin typeface="Times New Roman" panose="02020603050405020304" pitchFamily="18" charset="0"/>
                <a:cs typeface="Times New Roman" panose="02020603050405020304" pitchFamily="18" charset="0"/>
              </a:rPr>
              <a:t>), thus finalizing the case.</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View Final Doctor Report (U6):</a:t>
            </a:r>
            <a:r>
              <a:rPr lang="en-US" sz="2200" dirty="0">
                <a:latin typeface="Times New Roman" panose="02020603050405020304" pitchFamily="18" charset="0"/>
                <a:cs typeface="Times New Roman" panose="02020603050405020304" pitchFamily="18" charset="0"/>
              </a:rPr>
              <a:t> This is the ultimate goal for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allowing them to access the authenticated report and diagnosis submitted by the medical professional.</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Manage User Accounts (U7):</a:t>
            </a:r>
            <a:r>
              <a:rPr lang="en-US" sz="2200" dirty="0">
                <a:latin typeface="Times New Roman" panose="02020603050405020304" pitchFamily="18" charset="0"/>
                <a:cs typeface="Times New Roman" panose="02020603050405020304" pitchFamily="18" charset="0"/>
              </a:rPr>
              <a:t> The core responsibility of the </a:t>
            </a:r>
            <a:r>
              <a:rPr lang="en-US" sz="2200" b="1" dirty="0">
                <a:latin typeface="Times New Roman" panose="02020603050405020304" pitchFamily="18" charset="0"/>
                <a:cs typeface="Times New Roman" panose="02020603050405020304" pitchFamily="18" charset="0"/>
              </a:rPr>
              <a:t>Administrator</a:t>
            </a:r>
            <a:r>
              <a:rPr lang="en-US" sz="2200" dirty="0">
                <a:latin typeface="Times New Roman" panose="02020603050405020304" pitchFamily="18" charset="0"/>
                <a:cs typeface="Times New Roman" panose="02020603050405020304" pitchFamily="18" charset="0"/>
              </a:rPr>
              <a:t>, involving creating, modifying, and deactivating accounts for other staff (like Doctors).</a:t>
            </a:r>
          </a:p>
          <a:p>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2A1FFCF-6A68-29C0-2380-03921126DAB1}"/>
              </a:ext>
            </a:extLst>
          </p:cNvPr>
          <p:cNvPicPr>
            <a:picLocks noChangeAspect="1"/>
          </p:cNvPicPr>
          <p:nvPr/>
        </p:nvPicPr>
        <p:blipFill>
          <a:blip r:embed="rId2"/>
          <a:stretch>
            <a:fillRect/>
          </a:stretch>
        </p:blipFill>
        <p:spPr>
          <a:xfrm>
            <a:off x="11208773" y="1525328"/>
            <a:ext cx="5998571" cy="707520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
        <p:nvSpPr>
          <p:cNvPr id="5" name="Rectangle 4"/>
          <p:cNvSpPr/>
          <p:nvPr/>
        </p:nvSpPr>
        <p:spPr>
          <a:xfrm>
            <a:off x="7536090" y="358942"/>
            <a:ext cx="3215819"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Class Diagram</a:t>
            </a:r>
          </a:p>
        </p:txBody>
      </p:sp>
      <p:sp>
        <p:nvSpPr>
          <p:cNvPr id="7" name="TextBox 6"/>
          <p:cNvSpPr txBox="1"/>
          <p:nvPr/>
        </p:nvSpPr>
        <p:spPr>
          <a:xfrm>
            <a:off x="560628" y="1810598"/>
            <a:ext cx="8126172" cy="7201972"/>
          </a:xfrm>
          <a:prstGeom prst="rect">
            <a:avLst/>
          </a:prstGeom>
          <a:noFill/>
        </p:spPr>
        <p:txBody>
          <a:bodyPr wrap="square" rtlCol="0">
            <a:spAutoFit/>
          </a:bodyPr>
          <a:lstStyle/>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Role Class:</a:t>
            </a:r>
            <a:endParaRPr lang="en-US" sz="22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The central piece for defining permissions. It holds the core labels: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'admin'</a:t>
            </a:r>
            <a:r>
              <a:rPr lang="en-US" sz="22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Relationship to User:</a:t>
            </a:r>
            <a:r>
              <a:rPr lang="en-US" sz="2200" dirty="0">
                <a:latin typeface="Times New Roman" panose="02020603050405020304" pitchFamily="18" charset="0"/>
                <a:cs typeface="Times New Roman" panose="02020603050405020304" pitchFamily="18" charset="0"/>
              </a:rPr>
              <a:t> One Role can be assigned to </a:t>
            </a:r>
            <a:r>
              <a:rPr lang="en-US" sz="2200" b="1" dirty="0">
                <a:latin typeface="Times New Roman" panose="02020603050405020304" pitchFamily="18" charset="0"/>
                <a:cs typeface="Times New Roman" panose="02020603050405020304" pitchFamily="18" charset="0"/>
              </a:rPr>
              <a:t>many User accounts</a:t>
            </a:r>
            <a:r>
              <a:rPr lang="en-US" sz="2200" dirty="0">
                <a:latin typeface="Times New Roman" panose="02020603050405020304" pitchFamily="18" charset="0"/>
                <a:cs typeface="Times New Roman" panose="02020603050405020304" pitchFamily="18" charset="0"/>
              </a:rPr>
              <a:t>. This is how the system differentiates between a patient and a doctor upon login.</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User Class (The Actor Account):</a:t>
            </a:r>
            <a:endParaRPr lang="en-US" sz="22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Represents every individual who logs into the system. It stores the login credentials (username, </a:t>
            </a:r>
            <a:r>
              <a:rPr lang="en-US" sz="2200" dirty="0" err="1">
                <a:latin typeface="Times New Roman" panose="02020603050405020304" pitchFamily="18" charset="0"/>
                <a:cs typeface="Times New Roman" panose="02020603050405020304" pitchFamily="18" charset="0"/>
              </a:rPr>
              <a:t>password_hash</a:t>
            </a:r>
            <a:r>
              <a:rPr lang="en-US" sz="22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Relationship to Scan (Patient Role):</a:t>
            </a:r>
            <a:r>
              <a:rPr lang="en-US" sz="2200" dirty="0">
                <a:latin typeface="Times New Roman" panose="02020603050405020304" pitchFamily="18" charset="0"/>
                <a:cs typeface="Times New Roman" panose="02020603050405020304" pitchFamily="18" charset="0"/>
              </a:rPr>
              <a:t> A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(User) can submit </a:t>
            </a:r>
            <a:r>
              <a:rPr lang="en-US" sz="2200" b="1" dirty="0">
                <a:latin typeface="Times New Roman" panose="02020603050405020304" pitchFamily="18" charset="0"/>
                <a:cs typeface="Times New Roman" panose="02020603050405020304" pitchFamily="18" charset="0"/>
              </a:rPr>
              <a:t>many Scan</a:t>
            </a:r>
            <a:r>
              <a:rPr lang="en-US" sz="2200" dirty="0">
                <a:latin typeface="Times New Roman" panose="02020603050405020304" pitchFamily="18" charset="0"/>
                <a:cs typeface="Times New Roman" panose="02020603050405020304" pitchFamily="18" charset="0"/>
              </a:rPr>
              <a:t> records. This is the </a:t>
            </a:r>
            <a:r>
              <a:rPr lang="en-US" sz="2200" b="1" dirty="0">
                <a:latin typeface="Times New Roman" panose="02020603050405020304" pitchFamily="18" charset="0"/>
                <a:cs typeface="Times New Roman" panose="02020603050405020304" pitchFamily="18" charset="0"/>
              </a:rPr>
              <a:t>submission history</a:t>
            </a:r>
            <a:r>
              <a:rPr lang="en-US" sz="22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Relationship to Scan (Doctor Role):</a:t>
            </a:r>
            <a:r>
              <a:rPr lang="en-US" sz="2200" dirty="0">
                <a:latin typeface="Times New Roman" panose="02020603050405020304" pitchFamily="18" charset="0"/>
                <a:cs typeface="Times New Roman" panose="02020603050405020304" pitchFamily="18" charset="0"/>
              </a:rPr>
              <a:t> A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(User) can be assigned </a:t>
            </a:r>
            <a:r>
              <a:rPr lang="en-US" sz="2200" b="1" dirty="0">
                <a:latin typeface="Times New Roman" panose="02020603050405020304" pitchFamily="18" charset="0"/>
                <a:cs typeface="Times New Roman" panose="02020603050405020304" pitchFamily="18" charset="0"/>
              </a:rPr>
              <a:t>many Scan</a:t>
            </a:r>
            <a:r>
              <a:rPr lang="en-US" sz="2200" dirty="0">
                <a:latin typeface="Times New Roman" panose="02020603050405020304" pitchFamily="18" charset="0"/>
                <a:cs typeface="Times New Roman" panose="02020603050405020304" pitchFamily="18" charset="0"/>
              </a:rPr>
              <a:t> records for expert review and finalization.</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Scan Class (The Record):</a:t>
            </a:r>
            <a:endParaRPr lang="en-US" sz="22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The central data record for a single X-ray. It holds the </a:t>
            </a:r>
            <a:r>
              <a:rPr lang="en-US" sz="2200" dirty="0" err="1">
                <a:latin typeface="Times New Roman" panose="02020603050405020304" pitchFamily="18" charset="0"/>
                <a:cs typeface="Times New Roman" panose="02020603050405020304" pitchFamily="18" charset="0"/>
              </a:rPr>
              <a:t>image_path</a:t>
            </a:r>
            <a:r>
              <a:rPr lang="en-US" sz="2200" dirty="0">
                <a:latin typeface="Times New Roman" panose="02020603050405020304" pitchFamily="18" charset="0"/>
                <a:cs typeface="Times New Roman" panose="02020603050405020304" pitchFamily="18" charset="0"/>
              </a:rPr>
              <a:t>, the automated </a:t>
            </a:r>
            <a:r>
              <a:rPr lang="en-US" sz="2200" dirty="0" err="1">
                <a:latin typeface="Times New Roman" panose="02020603050405020304" pitchFamily="18" charset="0"/>
                <a:cs typeface="Times New Roman" panose="02020603050405020304" pitchFamily="18" charset="0"/>
              </a:rPr>
              <a:t>yolo_result</a:t>
            </a:r>
            <a:r>
              <a:rPr lang="en-US" sz="2200" dirty="0">
                <a:latin typeface="Times New Roman" panose="02020603050405020304" pitchFamily="18" charset="0"/>
                <a:cs typeface="Times New Roman" panose="02020603050405020304" pitchFamily="18" charset="0"/>
              </a:rPr>
              <a:t>, and the official </a:t>
            </a:r>
            <a:r>
              <a:rPr lang="en-US" sz="2200" dirty="0" err="1">
                <a:latin typeface="Times New Roman" panose="02020603050405020304" pitchFamily="18" charset="0"/>
                <a:cs typeface="Times New Roman" panose="02020603050405020304" pitchFamily="18" charset="0"/>
              </a:rPr>
              <a:t>doctor_report</a:t>
            </a:r>
            <a:r>
              <a:rPr lang="en-US" sz="22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Keys:</a:t>
            </a:r>
            <a:r>
              <a:rPr lang="en-US" sz="2200" dirty="0">
                <a:latin typeface="Times New Roman" panose="02020603050405020304" pitchFamily="18" charset="0"/>
                <a:cs typeface="Times New Roman" panose="02020603050405020304" pitchFamily="18" charset="0"/>
              </a:rPr>
              <a:t> It links directly back to the User class via </a:t>
            </a:r>
            <a:r>
              <a:rPr lang="en-US" sz="2200" b="1" dirty="0" err="1">
                <a:latin typeface="Times New Roman" panose="02020603050405020304" pitchFamily="18" charset="0"/>
                <a:cs typeface="Times New Roman" panose="02020603050405020304" pitchFamily="18" charset="0"/>
              </a:rPr>
              <a:t>patient_id</a:t>
            </a:r>
            <a:r>
              <a:rPr lang="en-US" sz="2200" dirty="0">
                <a:latin typeface="Times New Roman" panose="02020603050405020304" pitchFamily="18" charset="0"/>
                <a:cs typeface="Times New Roman" panose="02020603050405020304" pitchFamily="18" charset="0"/>
              </a:rPr>
              <a:t> and </a:t>
            </a:r>
            <a:r>
              <a:rPr lang="en-US" sz="2200" b="1" dirty="0" err="1">
                <a:latin typeface="Times New Roman" panose="02020603050405020304" pitchFamily="18" charset="0"/>
                <a:cs typeface="Times New Roman" panose="02020603050405020304" pitchFamily="18" charset="0"/>
              </a:rPr>
              <a:t>doctor_id</a:t>
            </a:r>
            <a:r>
              <a:rPr lang="en-US" sz="2200" dirty="0">
                <a:latin typeface="Times New Roman" panose="02020603050405020304" pitchFamily="18" charset="0"/>
                <a:cs typeface="Times New Roman" panose="02020603050405020304" pitchFamily="18" charset="0"/>
              </a:rPr>
              <a:t>, ensuring accountability for both submission and final diagnosis.</a:t>
            </a:r>
          </a:p>
        </p:txBody>
      </p:sp>
      <p:pic>
        <p:nvPicPr>
          <p:cNvPr id="11" name="Picture 10">
            <a:extLst>
              <a:ext uri="{FF2B5EF4-FFF2-40B4-BE49-F238E27FC236}">
                <a16:creationId xmlns:a16="http://schemas.microsoft.com/office/drawing/2014/main" id="{BB6FA632-2B4A-0A99-2FBC-EAA174796E8C}"/>
              </a:ext>
            </a:extLst>
          </p:cNvPr>
          <p:cNvPicPr>
            <a:picLocks noChangeAspect="1"/>
          </p:cNvPicPr>
          <p:nvPr/>
        </p:nvPicPr>
        <p:blipFill>
          <a:blip r:embed="rId2"/>
          <a:stretch>
            <a:fillRect/>
          </a:stretch>
        </p:blipFill>
        <p:spPr>
          <a:xfrm>
            <a:off x="8906005" y="1810597"/>
            <a:ext cx="9156528" cy="697014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sp>
        <p:nvSpPr>
          <p:cNvPr id="5" name="Rectangle 4"/>
          <p:cNvSpPr/>
          <p:nvPr/>
        </p:nvSpPr>
        <p:spPr>
          <a:xfrm>
            <a:off x="7155984" y="397058"/>
            <a:ext cx="3976031"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Activity Diagram</a:t>
            </a:r>
          </a:p>
        </p:txBody>
      </p:sp>
      <p:sp>
        <p:nvSpPr>
          <p:cNvPr id="7" name="TextBox 6"/>
          <p:cNvSpPr txBox="1"/>
          <p:nvPr/>
        </p:nvSpPr>
        <p:spPr>
          <a:xfrm>
            <a:off x="1210931" y="1911927"/>
            <a:ext cx="7741340" cy="7171194"/>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Activity Diagram maps the </a:t>
            </a:r>
            <a:r>
              <a:rPr lang="en-US" sz="2000" b="1" dirty="0">
                <a:latin typeface="Times New Roman" panose="02020603050405020304" pitchFamily="18" charset="0"/>
                <a:cs typeface="Times New Roman" panose="02020603050405020304" pitchFamily="18" charset="0"/>
              </a:rPr>
              <a:t>flow of control</a:t>
            </a:r>
            <a:r>
              <a:rPr lang="en-US" sz="2000" dirty="0">
                <a:latin typeface="Times New Roman" panose="02020603050405020304" pitchFamily="18" charset="0"/>
                <a:cs typeface="Times New Roman" panose="02020603050405020304" pitchFamily="18" charset="0"/>
              </a:rPr>
              <a:t> across the system's </a:t>
            </a:r>
            <a:r>
              <a:rPr lang="en-US" sz="2200" dirty="0">
                <a:latin typeface="Times New Roman" panose="02020603050405020304" pitchFamily="18" charset="0"/>
                <a:cs typeface="Times New Roman" panose="02020603050405020304" pitchFamily="18" charset="0"/>
              </a:rPr>
              <a:t>core processes, emphasizing decisions and parallel actions across user lanes.</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Patient Submission Flow:</a:t>
            </a:r>
            <a:r>
              <a:rPr lang="en-US" sz="2200" dirty="0">
                <a:latin typeface="Times New Roman" panose="02020603050405020304" pitchFamily="18" charset="0"/>
                <a:cs typeface="Times New Roman" panose="02020603050405020304" pitchFamily="18" charset="0"/>
              </a:rPr>
              <a:t> The process begins with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selecting and uploading the X-ray. The system immediately splits: it </a:t>
            </a:r>
            <a:r>
              <a:rPr lang="en-US" sz="2200" b="1" dirty="0">
                <a:latin typeface="Times New Roman" panose="02020603050405020304" pitchFamily="18" charset="0"/>
                <a:cs typeface="Times New Roman" panose="02020603050405020304" pitchFamily="18" charset="0"/>
              </a:rPr>
              <a:t>saves the image file</a:t>
            </a:r>
            <a:r>
              <a:rPr lang="en-US" sz="2200" dirty="0">
                <a:latin typeface="Times New Roman" panose="02020603050405020304" pitchFamily="18" charset="0"/>
                <a:cs typeface="Times New Roman" panose="02020603050405020304" pitchFamily="18" charset="0"/>
              </a:rPr>
              <a:t> to disk and </a:t>
            </a:r>
            <a:r>
              <a:rPr lang="en-US" sz="2200" b="1" dirty="0">
                <a:latin typeface="Times New Roman" panose="02020603050405020304" pitchFamily="18" charset="0"/>
                <a:cs typeface="Times New Roman" panose="02020603050405020304" pitchFamily="18" charset="0"/>
              </a:rPr>
              <a:t>records the scan metadata</a:t>
            </a:r>
            <a:r>
              <a:rPr lang="en-US" sz="2200" dirty="0">
                <a:latin typeface="Times New Roman" panose="02020603050405020304" pitchFamily="18" charset="0"/>
                <a:cs typeface="Times New Roman" panose="02020603050405020304" pitchFamily="18" charset="0"/>
              </a:rPr>
              <a:t> in the database simultaneously. The flow then proceeds to the </a:t>
            </a:r>
            <a:r>
              <a:rPr lang="en-US" sz="2200" b="1" dirty="0">
                <a:latin typeface="Times New Roman" panose="02020603050405020304" pitchFamily="18" charset="0"/>
                <a:cs typeface="Times New Roman" panose="02020603050405020304" pitchFamily="18" charset="0"/>
              </a:rPr>
              <a:t>AI Analysis</a:t>
            </a:r>
            <a:r>
              <a:rPr lang="en-US" sz="2200" dirty="0">
                <a:latin typeface="Times New Roman" panose="02020603050405020304" pitchFamily="18" charset="0"/>
                <a:cs typeface="Times New Roman" panose="02020603050405020304" pitchFamily="18" charset="0"/>
              </a:rPr>
              <a:t>, which updates the record. The Patient's final action is simply waiting for and viewing the final report.</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Doctor Review Flow:</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starts by claiming a </a:t>
            </a:r>
            <a:r>
              <a:rPr lang="en-US" sz="2200" b="1" dirty="0">
                <a:latin typeface="Times New Roman" panose="02020603050405020304" pitchFamily="18" charset="0"/>
                <a:cs typeface="Times New Roman" panose="02020603050405020304" pitchFamily="18" charset="0"/>
              </a:rPr>
              <a:t>Pending Scan</a:t>
            </a:r>
            <a:r>
              <a:rPr lang="en-US" sz="2200" dirty="0">
                <a:latin typeface="Times New Roman" panose="02020603050405020304" pitchFamily="18" charset="0"/>
                <a:cs typeface="Times New Roman" panose="02020603050405020304" pitchFamily="18" charset="0"/>
              </a:rPr>
              <a:t> from the queue. This is a critical decision point where the Doctor views the </a:t>
            </a:r>
            <a:r>
              <a:rPr lang="en-US" sz="2200" b="1" dirty="0">
                <a:latin typeface="Times New Roman" panose="02020603050405020304" pitchFamily="18" charset="0"/>
                <a:cs typeface="Times New Roman" panose="02020603050405020304" pitchFamily="18" charset="0"/>
              </a:rPr>
              <a:t>AI's prediction</a:t>
            </a:r>
            <a:r>
              <a:rPr lang="en-US" sz="2200" dirty="0">
                <a:latin typeface="Times New Roman" panose="02020603050405020304" pitchFamily="18" charset="0"/>
                <a:cs typeface="Times New Roman" panose="02020603050405020304" pitchFamily="18" charset="0"/>
              </a:rPr>
              <a:t>. Based on their expert assessment, they decide whether the </a:t>
            </a:r>
            <a:r>
              <a:rPr lang="en-US" sz="2200" b="1" dirty="0">
                <a:latin typeface="Times New Roman" panose="02020603050405020304" pitchFamily="18" charset="0"/>
                <a:cs typeface="Times New Roman" panose="02020603050405020304" pitchFamily="18" charset="0"/>
              </a:rPr>
              <a:t>Diagnosis is Clear</a:t>
            </a:r>
            <a:r>
              <a:rPr lang="en-US" sz="2200" dirty="0">
                <a:latin typeface="Times New Roman" panose="02020603050405020304" pitchFamily="18" charset="0"/>
                <a:cs typeface="Times New Roman" panose="02020603050405020304" pitchFamily="18" charset="0"/>
              </a:rPr>
              <a:t> or if the case is </a:t>
            </a:r>
            <a:r>
              <a:rPr lang="en-US" sz="2200" b="1" dirty="0">
                <a:latin typeface="Times New Roman" panose="02020603050405020304" pitchFamily="18" charset="0"/>
                <a:cs typeface="Times New Roman" panose="02020603050405020304" pitchFamily="18" charset="0"/>
              </a:rPr>
              <a:t>Inconclusive</a:t>
            </a:r>
            <a:r>
              <a:rPr lang="en-US" sz="2200" dirty="0">
                <a:latin typeface="Times New Roman" panose="02020603050405020304" pitchFamily="18" charset="0"/>
                <a:cs typeface="Times New Roman" panose="02020603050405020304" pitchFamily="18" charset="0"/>
              </a:rPr>
              <a:t>. This decision sets the final status before the report is submitted and permanently saved to the database.</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Parallelism and Hand-off:</a:t>
            </a:r>
            <a:r>
              <a:rPr lang="en-US" sz="2200" dirty="0">
                <a:latin typeface="Times New Roman" panose="02020603050405020304" pitchFamily="18" charset="0"/>
                <a:cs typeface="Times New Roman" panose="02020603050405020304" pitchFamily="18" charset="0"/>
              </a:rPr>
              <a:t> The diagram uses forks/splits to show that </a:t>
            </a:r>
            <a:r>
              <a:rPr lang="en-US" sz="2200" b="1" dirty="0">
                <a:latin typeface="Times New Roman" panose="02020603050405020304" pitchFamily="18" charset="0"/>
                <a:cs typeface="Times New Roman" panose="02020603050405020304" pitchFamily="18" charset="0"/>
              </a:rPr>
              <a:t>saving metadata</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saving the image file</a:t>
            </a:r>
            <a:r>
              <a:rPr lang="en-US" sz="2200" dirty="0">
                <a:latin typeface="Times New Roman" panose="02020603050405020304" pitchFamily="18" charset="0"/>
                <a:cs typeface="Times New Roman" panose="02020603050405020304" pitchFamily="18" charset="0"/>
              </a:rPr>
              <a:t> happen at the same time. The main flow hand-off is clean: the </a:t>
            </a:r>
            <a:r>
              <a:rPr lang="en-US" sz="2200" b="1" dirty="0">
                <a:latin typeface="Times New Roman" panose="02020603050405020304" pitchFamily="18" charset="0"/>
                <a:cs typeface="Times New Roman" panose="02020603050405020304" pitchFamily="18" charset="0"/>
              </a:rPr>
              <a:t>System/AI</a:t>
            </a:r>
            <a:r>
              <a:rPr lang="en-US" sz="2200" dirty="0">
                <a:latin typeface="Times New Roman" panose="02020603050405020304" pitchFamily="18" charset="0"/>
                <a:cs typeface="Times New Roman" panose="02020603050405020304" pitchFamily="18" charset="0"/>
              </a:rPr>
              <a:t> processes data, and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processes the expert review</a:t>
            </a:r>
            <a:r>
              <a:rPr lang="en-US" sz="2000" dirty="0">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458604EC-C1A7-0929-DE0A-DE5779E358D1}"/>
              </a:ext>
            </a:extLst>
          </p:cNvPr>
          <p:cNvPicPr>
            <a:picLocks noChangeAspect="1"/>
          </p:cNvPicPr>
          <p:nvPr/>
        </p:nvPicPr>
        <p:blipFill>
          <a:blip r:embed="rId2"/>
          <a:stretch>
            <a:fillRect/>
          </a:stretch>
        </p:blipFill>
        <p:spPr>
          <a:xfrm>
            <a:off x="10132142" y="2096593"/>
            <a:ext cx="6944927" cy="613300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
        <p:nvSpPr>
          <p:cNvPr id="5" name="Rectangle 4"/>
          <p:cNvSpPr/>
          <p:nvPr/>
        </p:nvSpPr>
        <p:spPr>
          <a:xfrm>
            <a:off x="7187827" y="269918"/>
            <a:ext cx="3912345"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Sequence Diagram</a:t>
            </a:r>
          </a:p>
        </p:txBody>
      </p:sp>
      <p:sp>
        <p:nvSpPr>
          <p:cNvPr id="7" name="TextBox 6"/>
          <p:cNvSpPr txBox="1"/>
          <p:nvPr/>
        </p:nvSpPr>
        <p:spPr>
          <a:xfrm>
            <a:off x="648929" y="1542660"/>
            <a:ext cx="8082116" cy="7540526"/>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The Sequence Diagram details the communication timeline between the system's components, acting as the operational blueprint.</a:t>
            </a:r>
          </a:p>
          <a:p>
            <a:pPr algn="just"/>
            <a:r>
              <a:rPr lang="en-US" sz="2200" b="1" dirty="0">
                <a:latin typeface="Times New Roman" panose="02020603050405020304" pitchFamily="18" charset="0"/>
                <a:cs typeface="Times New Roman" panose="02020603050405020304" pitchFamily="18" charset="0"/>
              </a:rPr>
              <a:t>Authentication Flow:</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Flask Server (F)</a:t>
            </a:r>
            <a:r>
              <a:rPr lang="en-US" sz="2200" dirty="0">
                <a:latin typeface="Times New Roman" panose="02020603050405020304" pitchFamily="18" charset="0"/>
                <a:cs typeface="Times New Roman" panose="02020603050405020304" pitchFamily="18" charset="0"/>
              </a:rPr>
              <a:t> manages the initial login request. It communicates with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to verify the user's </a:t>
            </a:r>
            <a:r>
              <a:rPr lang="en-US" sz="2200" b="1" dirty="0">
                <a:latin typeface="Times New Roman" panose="02020603050405020304" pitchFamily="18" charset="0"/>
                <a:cs typeface="Times New Roman" panose="02020603050405020304" pitchFamily="18" charset="0"/>
              </a:rPr>
              <a:t>Role</a:t>
            </a:r>
            <a:r>
              <a:rPr lang="en-US" sz="2200" dirty="0">
                <a:latin typeface="Times New Roman" panose="02020603050405020304" pitchFamily="18" charset="0"/>
                <a:cs typeface="Times New Roman" panose="02020603050405020304" pitchFamily="18" charset="0"/>
              </a:rPr>
              <a:t> (Patient or Doctor) and establish the session. This action ensures all subsequent requests are routed and executed with the correct permissions.</a:t>
            </a:r>
          </a:p>
          <a:p>
            <a:pPr algn="just"/>
            <a:r>
              <a:rPr lang="en-US" sz="2200" b="1" dirty="0">
                <a:latin typeface="Times New Roman" panose="02020603050405020304" pitchFamily="18" charset="0"/>
                <a:cs typeface="Times New Roman" panose="02020603050405020304" pitchFamily="18" charset="0"/>
              </a:rPr>
              <a:t>AI Control Flow:</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serves as the central </a:t>
            </a:r>
            <a:r>
              <a:rPr lang="en-US" sz="2200" b="1" dirty="0">
                <a:latin typeface="Times New Roman" panose="02020603050405020304" pitchFamily="18" charset="0"/>
                <a:cs typeface="Times New Roman" panose="02020603050405020304" pitchFamily="18" charset="0"/>
              </a:rPr>
              <a:t>orchestrator</a:t>
            </a:r>
            <a:r>
              <a:rPr lang="en-US" sz="2200" dirty="0">
                <a:latin typeface="Times New Roman" panose="02020603050405020304" pitchFamily="18" charset="0"/>
                <a:cs typeface="Times New Roman" panose="02020603050405020304" pitchFamily="18" charset="0"/>
              </a:rPr>
              <a:t> after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uploads the X-ray. It first saves the file and updates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metadata. Critically,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then explicitly calls the </a:t>
            </a:r>
            <a:r>
              <a:rPr lang="en-US" sz="2200" b="1" dirty="0">
                <a:latin typeface="Times New Roman" panose="02020603050405020304" pitchFamily="18" charset="0"/>
                <a:cs typeface="Times New Roman" panose="02020603050405020304" pitchFamily="18" charset="0"/>
              </a:rPr>
              <a:t>YOLO AI Module (Y)</a:t>
            </a:r>
            <a:r>
              <a:rPr lang="en-US" sz="2200" dirty="0">
                <a:latin typeface="Times New Roman" panose="02020603050405020304" pitchFamily="18" charset="0"/>
                <a:cs typeface="Times New Roman" panose="02020603050405020304" pitchFamily="18" charset="0"/>
              </a:rPr>
              <a:t> to run the intensive object detection prediction. </a:t>
            </a:r>
            <a:r>
              <a:rPr lang="en-US" sz="2200" b="1" dirty="0">
                <a:latin typeface="Times New Roman" panose="02020603050405020304" pitchFamily="18" charset="0"/>
                <a:cs typeface="Times New Roman" panose="02020603050405020304" pitchFamily="18" charset="0"/>
              </a:rPr>
              <a:t>Y</a:t>
            </a:r>
            <a:r>
              <a:rPr lang="en-US" sz="2200" dirty="0">
                <a:latin typeface="Times New Roman" panose="02020603050405020304" pitchFamily="18" charset="0"/>
                <a:cs typeface="Times New Roman" panose="02020603050405020304" pitchFamily="18" charset="0"/>
              </a:rPr>
              <a:t> returns the result and confidence score directly to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enabling the automatic assignment of the scan to a Doctor.</a:t>
            </a:r>
          </a:p>
          <a:p>
            <a:pPr algn="just"/>
            <a:r>
              <a:rPr lang="en-US" sz="2200" b="1" dirty="0">
                <a:latin typeface="Times New Roman" panose="02020603050405020304" pitchFamily="18" charset="0"/>
                <a:cs typeface="Times New Roman" panose="02020603050405020304" pitchFamily="18" charset="0"/>
              </a:rPr>
              <a:t>Doctor Workflow:</a:t>
            </a:r>
            <a:r>
              <a:rPr lang="en-US" sz="2200" dirty="0">
                <a:latin typeface="Times New Roman" panose="02020603050405020304" pitchFamily="18" charset="0"/>
                <a:cs typeface="Times New Roman" panose="02020603050405020304" pitchFamily="18" charset="0"/>
              </a:rPr>
              <a:t> When the </a:t>
            </a:r>
            <a:r>
              <a:rPr lang="en-US" sz="2200" b="1" dirty="0">
                <a:latin typeface="Times New Roman" panose="02020603050405020304" pitchFamily="18" charset="0"/>
                <a:cs typeface="Times New Roman" panose="02020603050405020304" pitchFamily="18" charset="0"/>
              </a:rPr>
              <a:t>Doctor</a:t>
            </a:r>
            <a:r>
              <a:rPr lang="en-US" sz="2200" dirty="0">
                <a:latin typeface="Times New Roman" panose="02020603050405020304" pitchFamily="18" charset="0"/>
                <a:cs typeface="Times New Roman" panose="02020603050405020304" pitchFamily="18" charset="0"/>
              </a:rPr>
              <a:t> initiates a </a:t>
            </a:r>
            <a:r>
              <a:rPr lang="en-US" sz="2200" b="1" dirty="0">
                <a:latin typeface="Times New Roman" panose="02020603050405020304" pitchFamily="18" charset="0"/>
                <a:cs typeface="Times New Roman" panose="02020603050405020304" pitchFamily="18" charset="0"/>
              </a:rPr>
              <a:t>Review</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retrieves all necessary context (the image path and the AI data) from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After careful examination, the Doctor submits the </a:t>
            </a:r>
            <a:r>
              <a:rPr lang="en-US" sz="2200" b="1" dirty="0">
                <a:latin typeface="Times New Roman" panose="02020603050405020304" pitchFamily="18" charset="0"/>
                <a:cs typeface="Times New Roman" panose="02020603050405020304" pitchFamily="18" charset="0"/>
              </a:rPr>
              <a:t>Final Report</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then executes the definitive write operation to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securing the official diagnosis record and marking the case complete.</a:t>
            </a:r>
          </a:p>
          <a:p>
            <a:pPr algn="just"/>
            <a:r>
              <a:rPr lang="en-US" sz="2200" b="1" dirty="0">
                <a:latin typeface="Times New Roman" panose="02020603050405020304" pitchFamily="18" charset="0"/>
                <a:cs typeface="Times New Roman" panose="02020603050405020304" pitchFamily="18" charset="0"/>
              </a:rPr>
              <a:t>Reporting:</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Patient</a:t>
            </a:r>
            <a:r>
              <a:rPr lang="en-US" sz="2200" dirty="0">
                <a:latin typeface="Times New Roman" panose="02020603050405020304" pitchFamily="18" charset="0"/>
                <a:cs typeface="Times New Roman" panose="02020603050405020304" pitchFamily="18" charset="0"/>
              </a:rPr>
              <a:t> is served the final report only after </a:t>
            </a:r>
            <a:r>
              <a:rPr lang="en-US" sz="2200" b="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retrieves the completed, fully reviewed, and authenticated data from the </a:t>
            </a:r>
            <a:r>
              <a:rPr lang="en-US" sz="2200" b="1" dirty="0">
                <a:latin typeface="Times New Roman" panose="02020603050405020304" pitchFamily="18" charset="0"/>
                <a:cs typeface="Times New Roman" panose="02020603050405020304" pitchFamily="18" charset="0"/>
              </a:rPr>
              <a:t>DB</a:t>
            </a:r>
            <a:r>
              <a:rPr lang="en-US" sz="2200" dirty="0">
                <a:latin typeface="Times New Roman" panose="02020603050405020304" pitchFamily="18" charset="0"/>
                <a:cs typeface="Times New Roman" panose="02020603050405020304" pitchFamily="18" charset="0"/>
              </a:rPr>
              <a:t>. This guarantees the patient sees the official, finalized status, concluding the entire diagnostic cycle.</a:t>
            </a:r>
          </a:p>
        </p:txBody>
      </p:sp>
      <p:pic>
        <p:nvPicPr>
          <p:cNvPr id="9" name="Picture 8">
            <a:extLst>
              <a:ext uri="{FF2B5EF4-FFF2-40B4-BE49-F238E27FC236}">
                <a16:creationId xmlns:a16="http://schemas.microsoft.com/office/drawing/2014/main" id="{19EFBE4F-8091-75A2-EC20-88A65F84307E}"/>
              </a:ext>
            </a:extLst>
          </p:cNvPr>
          <p:cNvPicPr>
            <a:picLocks noChangeAspect="1"/>
          </p:cNvPicPr>
          <p:nvPr/>
        </p:nvPicPr>
        <p:blipFill>
          <a:blip r:embed="rId2"/>
          <a:stretch>
            <a:fillRect/>
          </a:stretch>
        </p:blipFill>
        <p:spPr>
          <a:xfrm>
            <a:off x="10016763" y="1680957"/>
            <a:ext cx="7622308" cy="651914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23</a:t>
            </a:fld>
            <a:endParaRPr lang="en-US"/>
          </a:p>
        </p:txBody>
      </p:sp>
      <p:sp>
        <p:nvSpPr>
          <p:cNvPr id="5" name="Rectangle 4"/>
          <p:cNvSpPr/>
          <p:nvPr/>
        </p:nvSpPr>
        <p:spPr>
          <a:xfrm>
            <a:off x="6842160" y="375438"/>
            <a:ext cx="2839239" cy="646331"/>
          </a:xfrm>
          <a:prstGeom prst="rect">
            <a:avLst/>
          </a:prstGeom>
        </p:spPr>
        <p:txBody>
          <a:bodyPr wrap="none">
            <a:spAutoFit/>
          </a:bodyPr>
          <a:lstStyle/>
          <a:p>
            <a:r>
              <a:rPr lang="en-US" sz="3600" b="1" dirty="0">
                <a:latin typeface="Times New Roman" panose="02020603050405020304" pitchFamily="18" charset="0"/>
                <a:cs typeface="Times New Roman" panose="02020603050405020304" pitchFamily="18" charset="0"/>
              </a:rPr>
              <a:t>E-R Diagram</a:t>
            </a:r>
          </a:p>
        </p:txBody>
      </p:sp>
      <p:sp>
        <p:nvSpPr>
          <p:cNvPr id="7" name="TextBox 6"/>
          <p:cNvSpPr txBox="1"/>
          <p:nvPr/>
        </p:nvSpPr>
        <p:spPr>
          <a:xfrm>
            <a:off x="852054" y="1537855"/>
            <a:ext cx="7982230" cy="7879080"/>
          </a:xfrm>
          <a:prstGeom prst="rect">
            <a:avLst/>
          </a:prstGeom>
          <a:noFill/>
        </p:spPr>
        <p:txBody>
          <a:bodyPr wrap="square" rtlCol="0">
            <a:spAutoFit/>
          </a:bodyPr>
          <a:lstStyle/>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1. Entity-Relationship (ER) Diagram Explanation 💾</a:t>
            </a:r>
          </a:p>
          <a:p>
            <a:pPr algn="just"/>
            <a:r>
              <a:rPr lang="en-US" sz="2200" dirty="0">
                <a:latin typeface="Times New Roman" panose="02020603050405020304" pitchFamily="18" charset="0"/>
                <a:cs typeface="Times New Roman" panose="02020603050405020304" pitchFamily="18" charset="0"/>
              </a:rPr>
              <a:t>The ER Diagram defines the </a:t>
            </a:r>
            <a:r>
              <a:rPr lang="en-US" sz="2200" b="1" dirty="0">
                <a:latin typeface="Times New Roman" panose="02020603050405020304" pitchFamily="18" charset="0"/>
                <a:cs typeface="Times New Roman" panose="02020603050405020304" pitchFamily="18" charset="0"/>
              </a:rPr>
              <a:t>logical structure</a:t>
            </a:r>
            <a:r>
              <a:rPr lang="en-US" sz="2200" dirty="0">
                <a:latin typeface="Times New Roman" panose="02020603050405020304" pitchFamily="18" charset="0"/>
                <a:cs typeface="Times New Roman" panose="02020603050405020304" pitchFamily="18" charset="0"/>
              </a:rPr>
              <a:t> of your database, showing how the data entities are related through foreign keys and cardinality.</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Role Entity:</a:t>
            </a:r>
            <a:endParaRPr lang="en-US" sz="2200" dirty="0">
              <a:latin typeface="Times New Roman" panose="02020603050405020304" pitchFamily="18" charset="0"/>
              <a:cs typeface="Times New Roman" panose="02020603050405020304" pitchFamily="18" charset="0"/>
            </a:endParaRPr>
          </a:p>
          <a:p>
            <a:pPr lvl="1" algn="just"/>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The single source of truth for user types (</a:t>
            </a:r>
            <a:r>
              <a:rPr lang="en-US" sz="2200" b="1" dirty="0">
                <a:latin typeface="Times New Roman" panose="02020603050405020304" pitchFamily="18" charset="0"/>
                <a:cs typeface="Times New Roman" panose="02020603050405020304" pitchFamily="18" charset="0"/>
              </a:rPr>
              <a:t>patient, doctor, admin</a:t>
            </a:r>
            <a:r>
              <a:rPr lang="en-US" sz="2200" dirty="0">
                <a:latin typeface="Times New Roman" panose="02020603050405020304" pitchFamily="18" charset="0"/>
                <a:cs typeface="Times New Roman" panose="02020603050405020304" pitchFamily="18" charset="0"/>
              </a:rPr>
              <a:t>).</a:t>
            </a:r>
          </a:p>
          <a:p>
            <a:pPr lvl="1" algn="just"/>
            <a:r>
              <a:rPr lang="en-US" sz="2200" b="1" dirty="0">
                <a:latin typeface="Times New Roman" panose="02020603050405020304" pitchFamily="18" charset="0"/>
                <a:cs typeface="Times New Roman" panose="02020603050405020304" pitchFamily="18" charset="0"/>
              </a:rPr>
              <a:t>Relationship to USER:</a:t>
            </a:r>
            <a:r>
              <a:rPr lang="en-US" sz="2200" dirty="0">
                <a:latin typeface="Times New Roman" panose="02020603050405020304" pitchFamily="18" charset="0"/>
                <a:cs typeface="Times New Roman" panose="02020603050405020304" pitchFamily="18" charset="0"/>
              </a:rPr>
              <a:t> It has a </a:t>
            </a:r>
            <a:r>
              <a:rPr lang="en-US" sz="2200" b="1" dirty="0">
                <a:latin typeface="Times New Roman" panose="02020603050405020304" pitchFamily="18" charset="0"/>
                <a:cs typeface="Times New Roman" panose="02020603050405020304" pitchFamily="18" charset="0"/>
              </a:rPr>
              <a:t>one-to-many</a:t>
            </a:r>
            <a:r>
              <a:rPr lang="en-US" sz="2200" dirty="0">
                <a:latin typeface="Times New Roman" panose="02020603050405020304" pitchFamily="18" charset="0"/>
                <a:cs typeface="Times New Roman" panose="02020603050405020304" pitchFamily="18" charset="0"/>
              </a:rPr>
              <a:t> relationship (1:N). One Role defines the type for many User accounts, linking them via the </a:t>
            </a:r>
            <a:r>
              <a:rPr lang="en-US" sz="2200" dirty="0" err="1">
                <a:latin typeface="Times New Roman" panose="02020603050405020304" pitchFamily="18" charset="0"/>
                <a:cs typeface="Times New Roman" panose="02020603050405020304" pitchFamily="18" charset="0"/>
              </a:rPr>
              <a:t>role_id</a:t>
            </a:r>
            <a:r>
              <a:rPr lang="en-US" sz="22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User Entity:</a:t>
            </a:r>
            <a:endParaRPr lang="en-US" sz="2200" dirty="0">
              <a:latin typeface="Times New Roman" panose="02020603050405020304" pitchFamily="18" charset="0"/>
              <a:cs typeface="Times New Roman" panose="02020603050405020304" pitchFamily="18" charset="0"/>
            </a:endParaRPr>
          </a:p>
          <a:p>
            <a:pPr lvl="1" algn="just"/>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Stores all necessary account credentials (username, </a:t>
            </a:r>
            <a:r>
              <a:rPr lang="en-US" sz="2200" dirty="0" err="1">
                <a:latin typeface="Times New Roman" panose="02020603050405020304" pitchFamily="18" charset="0"/>
                <a:cs typeface="Times New Roman" panose="02020603050405020304" pitchFamily="18" charset="0"/>
              </a:rPr>
              <a:t>password_hash</a:t>
            </a:r>
            <a:r>
              <a:rPr lang="en-US" sz="2200" dirty="0">
                <a:latin typeface="Times New Roman" panose="02020603050405020304" pitchFamily="18" charset="0"/>
                <a:cs typeface="Times New Roman" panose="02020603050405020304" pitchFamily="18" charset="0"/>
              </a:rPr>
              <a:t>) and personal details (email, </a:t>
            </a:r>
            <a:r>
              <a:rPr lang="en-US" sz="2200" dirty="0" err="1">
                <a:latin typeface="Times New Roman" panose="02020603050405020304" pitchFamily="18" charset="0"/>
                <a:cs typeface="Times New Roman" panose="02020603050405020304" pitchFamily="18" charset="0"/>
              </a:rPr>
              <a:t>date_joined</a:t>
            </a:r>
            <a:r>
              <a:rPr lang="en-US" sz="2200" dirty="0">
                <a:latin typeface="Times New Roman" panose="02020603050405020304" pitchFamily="18" charset="0"/>
                <a:cs typeface="Times New Roman" panose="02020603050405020304" pitchFamily="18" charset="0"/>
              </a:rPr>
              <a:t>).</a:t>
            </a:r>
          </a:p>
          <a:p>
            <a:pPr lvl="1" algn="just"/>
            <a:r>
              <a:rPr lang="en-US" sz="2200" b="1" dirty="0">
                <a:latin typeface="Times New Roman" panose="02020603050405020304" pitchFamily="18" charset="0"/>
                <a:cs typeface="Times New Roman" panose="02020603050405020304" pitchFamily="18" charset="0"/>
              </a:rPr>
              <a:t>Relationships to SCAN:</a:t>
            </a:r>
            <a:r>
              <a:rPr lang="en-US" sz="2200" dirty="0">
                <a:latin typeface="Times New Roman" panose="02020603050405020304" pitchFamily="18" charset="0"/>
                <a:cs typeface="Times New Roman" panose="02020603050405020304" pitchFamily="18" charset="0"/>
              </a:rPr>
              <a:t> It has two separate </a:t>
            </a:r>
            <a:r>
              <a:rPr lang="en-US" sz="2200" b="1" dirty="0">
                <a:latin typeface="Times New Roman" panose="02020603050405020304" pitchFamily="18" charset="0"/>
                <a:cs typeface="Times New Roman" panose="02020603050405020304" pitchFamily="18" charset="0"/>
              </a:rPr>
              <a:t>one-to-many</a:t>
            </a:r>
            <a:r>
              <a:rPr lang="en-US" sz="2200" dirty="0">
                <a:latin typeface="Times New Roman" panose="02020603050405020304" pitchFamily="18" charset="0"/>
                <a:cs typeface="Times New Roman" panose="02020603050405020304" pitchFamily="18" charset="0"/>
              </a:rPr>
              <a:t> relationships with the SCAN entity, defining both the submitter and the reviewer.</a:t>
            </a:r>
          </a:p>
          <a:p>
            <a:pPr marL="342900" indent="-342900" algn="just">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Scan Entity:</a:t>
            </a:r>
            <a:endParaRPr lang="en-US" sz="2200" dirty="0">
              <a:latin typeface="Times New Roman" panose="02020603050405020304" pitchFamily="18" charset="0"/>
              <a:cs typeface="Times New Roman" panose="02020603050405020304" pitchFamily="18" charset="0"/>
            </a:endParaRPr>
          </a:p>
          <a:p>
            <a:pPr lvl="1" algn="just"/>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The central data record for a single diagnostic case. It stores technical data (</a:t>
            </a:r>
            <a:r>
              <a:rPr lang="en-US" sz="2200" dirty="0" err="1">
                <a:latin typeface="Times New Roman" panose="02020603050405020304" pitchFamily="18" charset="0"/>
                <a:cs typeface="Times New Roman" panose="02020603050405020304" pitchFamily="18" charset="0"/>
              </a:rPr>
              <a:t>image_path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yolo_confidence</a:t>
            </a:r>
            <a:r>
              <a:rPr lang="en-US" sz="2200" dirty="0">
                <a:latin typeface="Times New Roman" panose="02020603050405020304" pitchFamily="18" charset="0"/>
                <a:cs typeface="Times New Roman" panose="02020603050405020304" pitchFamily="18" charset="0"/>
              </a:rPr>
              <a:t>) and human data (</a:t>
            </a:r>
            <a:r>
              <a:rPr lang="en-US" sz="2200" dirty="0" err="1">
                <a:latin typeface="Times New Roman" panose="02020603050405020304" pitchFamily="18" charset="0"/>
                <a:cs typeface="Times New Roman" panose="02020603050405020304" pitchFamily="18" charset="0"/>
              </a:rPr>
              <a:t>doctor_report</a:t>
            </a:r>
            <a:r>
              <a:rPr lang="en-US" sz="2200" dirty="0">
                <a:latin typeface="Times New Roman" panose="02020603050405020304" pitchFamily="18" charset="0"/>
                <a:cs typeface="Times New Roman" panose="02020603050405020304" pitchFamily="18" charset="0"/>
              </a:rPr>
              <a:t>).</a:t>
            </a:r>
          </a:p>
          <a:p>
            <a:pPr lvl="1" algn="just"/>
            <a:r>
              <a:rPr lang="en-US" sz="2200" b="1" dirty="0">
                <a:latin typeface="Times New Roman" panose="02020603050405020304" pitchFamily="18" charset="0"/>
                <a:cs typeface="Times New Roman" panose="02020603050405020304" pitchFamily="18" charset="0"/>
              </a:rPr>
              <a:t>Accountability:</a:t>
            </a:r>
            <a:r>
              <a:rPr lang="en-US" sz="2200" dirty="0">
                <a:latin typeface="Times New Roman" panose="02020603050405020304" pitchFamily="18" charset="0"/>
                <a:cs typeface="Times New Roman" panose="02020603050405020304" pitchFamily="18" charset="0"/>
              </a:rPr>
              <a:t> It uses two foreign keys (</a:t>
            </a:r>
            <a:r>
              <a:rPr lang="en-US" sz="2200" dirty="0" err="1">
                <a:latin typeface="Times New Roman" panose="02020603050405020304" pitchFamily="18" charset="0"/>
                <a:cs typeface="Times New Roman" panose="02020603050405020304" pitchFamily="18" charset="0"/>
              </a:rPr>
              <a:t>patient_id</a:t>
            </a: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doctor_id</a:t>
            </a:r>
            <a:r>
              <a:rPr lang="en-US" sz="2200" dirty="0">
                <a:latin typeface="Times New Roman" panose="02020603050405020304" pitchFamily="18" charset="0"/>
                <a:cs typeface="Times New Roman" panose="02020603050405020304" pitchFamily="18" charset="0"/>
              </a:rPr>
              <a:t>) to ensure clear and traceable accountability for both the upload and the final medical decision.</a:t>
            </a:r>
          </a:p>
        </p:txBody>
      </p:sp>
      <p:pic>
        <p:nvPicPr>
          <p:cNvPr id="9" name="Picture 8" descr="A diagram of a process&#10;&#10;AI-generated content may be incorrect.">
            <a:extLst>
              <a:ext uri="{FF2B5EF4-FFF2-40B4-BE49-F238E27FC236}">
                <a16:creationId xmlns:a16="http://schemas.microsoft.com/office/drawing/2014/main" id="{73B5C912-5FF5-48C7-BDE7-27BD7A468A3E}"/>
              </a:ext>
            </a:extLst>
          </p:cNvPr>
          <p:cNvPicPr>
            <a:picLocks noChangeAspect="1"/>
          </p:cNvPicPr>
          <p:nvPr/>
        </p:nvPicPr>
        <p:blipFill>
          <a:blip r:embed="rId2"/>
          <a:stretch>
            <a:fillRect/>
          </a:stretch>
        </p:blipFill>
        <p:spPr>
          <a:xfrm>
            <a:off x="9320979" y="1537855"/>
            <a:ext cx="7685123" cy="56007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sp>
        <p:nvSpPr>
          <p:cNvPr id="5" name="Rectangle 4"/>
          <p:cNvSpPr/>
          <p:nvPr/>
        </p:nvSpPr>
        <p:spPr>
          <a:xfrm>
            <a:off x="602671" y="1807109"/>
            <a:ext cx="17394383" cy="1938992"/>
          </a:xfrm>
          <a:prstGeom prst="rect">
            <a:avLst/>
          </a:prstGeom>
        </p:spPr>
        <p:txBody>
          <a:bodyPr wrap="square">
            <a:spAutoFit/>
          </a:bodyPr>
          <a:lstStyle/>
          <a:p>
            <a:pPr lvl="1">
              <a:buFont typeface="Wingdings" pitchFamily="2" charset="2"/>
              <a:buChar char="Ø"/>
            </a:pPr>
            <a:r>
              <a:rPr lang="en-US" sz="2400" dirty="0">
                <a:latin typeface="Times New Roman" pitchFamily="18" charset="0"/>
                <a:cs typeface="Times New Roman" pitchFamily="18" charset="0"/>
              </a:rPr>
              <a:t>UNIT TESTING</a:t>
            </a:r>
            <a:endParaRPr lang="en-IN" sz="2400" i="1" dirty="0">
              <a:latin typeface="Times New Roman" pitchFamily="18" charset="0"/>
              <a:cs typeface="Times New Roman" pitchFamily="18" charset="0"/>
            </a:endParaRPr>
          </a:p>
          <a:p>
            <a:pPr lvl="1">
              <a:buFont typeface="Wingdings" pitchFamily="2" charset="2"/>
              <a:buChar char="Ø"/>
            </a:pPr>
            <a:r>
              <a:rPr lang="en-US" sz="2400" dirty="0">
                <a:latin typeface="Times New Roman" pitchFamily="18" charset="0"/>
                <a:cs typeface="Times New Roman" pitchFamily="18" charset="0"/>
              </a:rPr>
              <a:t>INTEGRATION TESTING</a:t>
            </a:r>
          </a:p>
          <a:p>
            <a:pPr lvl="1">
              <a:buFont typeface="Wingdings" pitchFamily="2" charset="2"/>
              <a:buChar char="Ø"/>
            </a:pPr>
            <a:r>
              <a:rPr lang="en-US" sz="2400" dirty="0">
                <a:latin typeface="Times New Roman" pitchFamily="18" charset="0"/>
                <a:cs typeface="Times New Roman" pitchFamily="18" charset="0"/>
              </a:rPr>
              <a:t>FUNCTIONAL TESTING</a:t>
            </a:r>
          </a:p>
          <a:p>
            <a:pPr lvl="1">
              <a:buFont typeface="Wingdings" pitchFamily="2" charset="2"/>
              <a:buChar char="Ø"/>
            </a:pPr>
            <a:r>
              <a:rPr lang="en-US" sz="2400" dirty="0">
                <a:latin typeface="Times New Roman" pitchFamily="18" charset="0"/>
                <a:cs typeface="Times New Roman" pitchFamily="18" charset="0"/>
              </a:rPr>
              <a:t>WHITE BOX TESTING</a:t>
            </a:r>
          </a:p>
          <a:p>
            <a:pPr lvl="1">
              <a:buFont typeface="Wingdings" pitchFamily="2" charset="2"/>
              <a:buChar char="Ø"/>
            </a:pPr>
            <a:r>
              <a:rPr lang="en-US" sz="2400" dirty="0">
                <a:latin typeface="Times New Roman" pitchFamily="18" charset="0"/>
                <a:cs typeface="Times New Roman" pitchFamily="18" charset="0"/>
              </a:rPr>
              <a:t>BLACK BOX TESTING</a:t>
            </a:r>
            <a:endParaRPr lang="en-IN" sz="2400" dirty="0">
              <a:latin typeface="Times New Roman" pitchFamily="18" charset="0"/>
              <a:cs typeface="Times New Roman" pitchFamily="18" charset="0"/>
            </a:endParaRPr>
          </a:p>
        </p:txBody>
      </p:sp>
      <p:sp>
        <p:nvSpPr>
          <p:cNvPr id="6" name="Rectangle 5"/>
          <p:cNvSpPr/>
          <p:nvPr/>
        </p:nvSpPr>
        <p:spPr>
          <a:xfrm>
            <a:off x="6522870" y="386834"/>
            <a:ext cx="2236510" cy="646331"/>
          </a:xfrm>
          <a:prstGeom prst="rect">
            <a:avLst/>
          </a:prstGeom>
        </p:spPr>
        <p:txBody>
          <a:bodyPr wrap="none">
            <a:spAutoFit/>
          </a:bodyPr>
          <a:lstStyle/>
          <a:p>
            <a:r>
              <a:rPr lang="en-IN" sz="3600" b="1" dirty="0">
                <a:latin typeface="Times New Roman" pitchFamily="18" charset="0"/>
                <a:cs typeface="Times New Roman" pitchFamily="18" charset="0"/>
              </a:rPr>
              <a:t>TESTING</a:t>
            </a:r>
            <a:endParaRPr lang="en-IN"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sp>
        <p:nvSpPr>
          <p:cNvPr id="5" name="Rectangle 4"/>
          <p:cNvSpPr/>
          <p:nvPr/>
        </p:nvSpPr>
        <p:spPr>
          <a:xfrm>
            <a:off x="5910548" y="319886"/>
            <a:ext cx="3951082" cy="646331"/>
          </a:xfrm>
          <a:prstGeom prst="rect">
            <a:avLst/>
          </a:prstGeom>
        </p:spPr>
        <p:txBody>
          <a:bodyPr wrap="none">
            <a:spAutoFit/>
          </a:bodyPr>
          <a:lstStyle/>
          <a:p>
            <a:pPr lvl="1"/>
            <a:r>
              <a:rPr lang="en-US" sz="3600" b="1" dirty="0">
                <a:latin typeface="Times New Roman" pitchFamily="18" charset="0"/>
                <a:cs typeface="Times New Roman" pitchFamily="18" charset="0"/>
              </a:rPr>
              <a:t>UNIT TESTING</a:t>
            </a:r>
            <a:endParaRPr lang="en-IN" sz="3600" b="1" i="1" dirty="0">
              <a:latin typeface="Times New Roman" pitchFamily="18" charset="0"/>
              <a:cs typeface="Times New Roman" pitchFamily="18" charset="0"/>
            </a:endParaRPr>
          </a:p>
        </p:txBody>
      </p:sp>
      <p:sp>
        <p:nvSpPr>
          <p:cNvPr id="6" name="Rectangle 5"/>
          <p:cNvSpPr/>
          <p:nvPr/>
        </p:nvSpPr>
        <p:spPr>
          <a:xfrm>
            <a:off x="394853" y="1211271"/>
            <a:ext cx="17560637" cy="830997"/>
          </a:xfrm>
          <a:prstGeom prst="rect">
            <a:avLst/>
          </a:prstGeom>
        </p:spPr>
        <p:txBody>
          <a:bodyPr wrap="square">
            <a:spAutoFit/>
          </a:bodyPr>
          <a:lstStyle/>
          <a:p>
            <a:r>
              <a:rPr lang="en-IN" sz="2400" dirty="0">
                <a:latin typeface="Times New Roman" pitchFamily="18" charset="0"/>
                <a:cs typeface="Times New Roman" pitchFamily="18" charset="0"/>
              </a:rPr>
              <a:t>Unit testing involves testing individual components of the software program or application. The main purpose behind this is to check that all the individual parts are working as intended. A unit is known as the smallest possible component of software that can be tested.</a:t>
            </a:r>
          </a:p>
        </p:txBody>
      </p:sp>
      <p:pic>
        <p:nvPicPr>
          <p:cNvPr id="10" name="Picture 9">
            <a:extLst>
              <a:ext uri="{FF2B5EF4-FFF2-40B4-BE49-F238E27FC236}">
                <a16:creationId xmlns:a16="http://schemas.microsoft.com/office/drawing/2014/main" id="{57B85B26-6229-8569-AAFF-F5018396FFEE}"/>
              </a:ext>
            </a:extLst>
          </p:cNvPr>
          <p:cNvPicPr>
            <a:picLocks noChangeAspect="1"/>
          </p:cNvPicPr>
          <p:nvPr/>
        </p:nvPicPr>
        <p:blipFill>
          <a:blip r:embed="rId2"/>
          <a:stretch>
            <a:fillRect/>
          </a:stretch>
        </p:blipFill>
        <p:spPr>
          <a:xfrm>
            <a:off x="5272067" y="2937294"/>
            <a:ext cx="7743865" cy="127171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26</a:t>
            </a:fld>
            <a:endParaRPr lang="en-US"/>
          </a:p>
        </p:txBody>
      </p:sp>
      <p:sp>
        <p:nvSpPr>
          <p:cNvPr id="5" name="Rectangle 4"/>
          <p:cNvSpPr/>
          <p:nvPr/>
        </p:nvSpPr>
        <p:spPr>
          <a:xfrm>
            <a:off x="6270215" y="490743"/>
            <a:ext cx="4228722" cy="646331"/>
          </a:xfrm>
          <a:prstGeom prst="rect">
            <a:avLst/>
          </a:prstGeom>
        </p:spPr>
        <p:txBody>
          <a:bodyPr wrap="none">
            <a:spAutoFit/>
          </a:bodyPr>
          <a:lstStyle/>
          <a:p>
            <a:pPr marL="355600" indent="-343535">
              <a:lnSpc>
                <a:spcPct val="100000"/>
              </a:lnSpc>
              <a:spcBef>
                <a:spcPts val="100"/>
              </a:spcBef>
              <a:buSzPct val="83333"/>
              <a:tabLst>
                <a:tab pos="355600" algn="l"/>
                <a:tab pos="356235" algn="l"/>
              </a:tabLst>
            </a:pPr>
            <a:r>
              <a:rPr lang="en-IN" sz="3600" b="1" spc="-5" dirty="0">
                <a:latin typeface="Times New Roman"/>
                <a:cs typeface="Times New Roman"/>
              </a:rPr>
              <a:t>SYSTEM</a:t>
            </a:r>
            <a:r>
              <a:rPr lang="en-IN" sz="3600" b="1" spc="10" dirty="0">
                <a:latin typeface="Times New Roman"/>
                <a:cs typeface="Times New Roman"/>
              </a:rPr>
              <a:t> </a:t>
            </a:r>
            <a:r>
              <a:rPr lang="en-IN" sz="3600" b="1" spc="-25" dirty="0">
                <a:latin typeface="Times New Roman"/>
                <a:cs typeface="Times New Roman"/>
              </a:rPr>
              <a:t>TESTING</a:t>
            </a:r>
            <a:endParaRPr lang="en-IN" sz="3600" dirty="0">
              <a:latin typeface="Times New Roman"/>
              <a:cs typeface="Times New Roman"/>
            </a:endParaRPr>
          </a:p>
        </p:txBody>
      </p:sp>
      <p:sp>
        <p:nvSpPr>
          <p:cNvPr id="6" name="Rectangle 5"/>
          <p:cNvSpPr/>
          <p:nvPr/>
        </p:nvSpPr>
        <p:spPr>
          <a:xfrm>
            <a:off x="935020" y="1675307"/>
            <a:ext cx="16874998" cy="1754326"/>
          </a:xfrm>
          <a:prstGeom prst="rect">
            <a:avLst/>
          </a:prstGeom>
        </p:spPr>
        <p:txBody>
          <a:bodyPr wrap="square">
            <a:spAutoFit/>
          </a:bodyPr>
          <a:lstStyle/>
          <a:p>
            <a:r>
              <a:rPr lang="en-IN" sz="2400" dirty="0">
                <a:latin typeface="Times New Roman" pitchFamily="18" charset="0"/>
                <a:cs typeface="Times New Roman" pitchFamily="18" charset="0"/>
              </a:rPr>
              <a:t>Testing an entire, fully integrated software product is known as system testing</a:t>
            </a:r>
            <a:r>
              <a:rPr lang="en-IN" dirty="0"/>
              <a:t>.</a:t>
            </a:r>
          </a:p>
          <a:p>
            <a:endParaRPr lang="en-IN" dirty="0"/>
          </a:p>
          <a:p>
            <a:r>
              <a:rPr lang="en-IN" sz="2400" dirty="0">
                <a:latin typeface="Times New Roman" pitchFamily="18" charset="0"/>
                <a:cs typeface="Times New Roman" pitchFamily="18" charset="0"/>
              </a:rPr>
              <a:t>Depending on your project, if this test is required, then attach the screenshot. Otherwise, you have to mention that the test is not required for our project.</a:t>
            </a:r>
          </a:p>
          <a:p>
            <a:endParaRPr lang="en-IN" dirty="0"/>
          </a:p>
        </p:txBody>
      </p:sp>
      <p:pic>
        <p:nvPicPr>
          <p:cNvPr id="9" name="Picture 8">
            <a:extLst>
              <a:ext uri="{FF2B5EF4-FFF2-40B4-BE49-F238E27FC236}">
                <a16:creationId xmlns:a16="http://schemas.microsoft.com/office/drawing/2014/main" id="{BEE1A86C-3CC8-990F-BC1E-31AB61D584E1}"/>
              </a:ext>
            </a:extLst>
          </p:cNvPr>
          <p:cNvPicPr>
            <a:picLocks noChangeAspect="1"/>
          </p:cNvPicPr>
          <p:nvPr/>
        </p:nvPicPr>
        <p:blipFill>
          <a:blip r:embed="rId2"/>
          <a:stretch>
            <a:fillRect/>
          </a:stretch>
        </p:blipFill>
        <p:spPr>
          <a:xfrm>
            <a:off x="5019618" y="4434217"/>
            <a:ext cx="7743866" cy="16861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27</a:t>
            </a:fld>
            <a:endParaRPr lang="en-US"/>
          </a:p>
        </p:txBody>
      </p:sp>
      <p:sp>
        <p:nvSpPr>
          <p:cNvPr id="5" name="Rectangle 4"/>
          <p:cNvSpPr/>
          <p:nvPr/>
        </p:nvSpPr>
        <p:spPr>
          <a:xfrm>
            <a:off x="6563807" y="324489"/>
            <a:ext cx="4737387" cy="646331"/>
          </a:xfrm>
          <a:prstGeom prst="rect">
            <a:avLst/>
          </a:prstGeom>
        </p:spPr>
        <p:txBody>
          <a:bodyPr wrap="none">
            <a:spAutoFit/>
          </a:bodyPr>
          <a:lstStyle/>
          <a:p>
            <a:pPr marL="12700">
              <a:lnSpc>
                <a:spcPct val="100000"/>
              </a:lnSpc>
              <a:spcBef>
                <a:spcPts val="105"/>
              </a:spcBef>
            </a:pPr>
            <a:r>
              <a:rPr lang="en-IN" sz="3600" b="1" spc="-25" dirty="0">
                <a:latin typeface="Times New Roman"/>
                <a:cs typeface="Times New Roman"/>
              </a:rPr>
              <a:t>INPUT</a:t>
            </a:r>
            <a:r>
              <a:rPr lang="en-IN" sz="3600" b="1" spc="85" dirty="0">
                <a:latin typeface="Times New Roman"/>
                <a:cs typeface="Times New Roman"/>
              </a:rPr>
              <a:t> </a:t>
            </a:r>
            <a:r>
              <a:rPr lang="en-IN" sz="3600" b="1" spc="-10" dirty="0">
                <a:latin typeface="Times New Roman"/>
                <a:cs typeface="Times New Roman"/>
              </a:rPr>
              <a:t>AND</a:t>
            </a:r>
            <a:r>
              <a:rPr lang="en-IN" sz="3600" b="1" spc="-35" dirty="0">
                <a:latin typeface="Times New Roman"/>
                <a:cs typeface="Times New Roman"/>
              </a:rPr>
              <a:t> </a:t>
            </a:r>
            <a:r>
              <a:rPr lang="en-IN" sz="3600" b="1" spc="-5" dirty="0">
                <a:latin typeface="Times New Roman"/>
                <a:cs typeface="Times New Roman"/>
              </a:rPr>
              <a:t>OUTPUT</a:t>
            </a:r>
            <a:endParaRPr lang="en-IN" sz="3600" dirty="0">
              <a:latin typeface="Times New Roman"/>
              <a:cs typeface="Times New Roman"/>
            </a:endParaRPr>
          </a:p>
        </p:txBody>
      </p:sp>
      <p:pic>
        <p:nvPicPr>
          <p:cNvPr id="10" name="Picture 9">
            <a:extLst>
              <a:ext uri="{FF2B5EF4-FFF2-40B4-BE49-F238E27FC236}">
                <a16:creationId xmlns:a16="http://schemas.microsoft.com/office/drawing/2014/main" id="{5C5848FC-9F4D-D50B-3798-FD57A8C3A65F}"/>
              </a:ext>
            </a:extLst>
          </p:cNvPr>
          <p:cNvPicPr>
            <a:picLocks noChangeAspect="1"/>
          </p:cNvPicPr>
          <p:nvPr/>
        </p:nvPicPr>
        <p:blipFill>
          <a:blip r:embed="rId2"/>
          <a:stretch>
            <a:fillRect/>
          </a:stretch>
        </p:blipFill>
        <p:spPr>
          <a:xfrm>
            <a:off x="1032385" y="1106128"/>
            <a:ext cx="15786341" cy="809686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28</a:t>
            </a:fld>
            <a:endParaRPr lang="en-US"/>
          </a:p>
        </p:txBody>
      </p:sp>
      <p:sp>
        <p:nvSpPr>
          <p:cNvPr id="5" name="Rectangle 4"/>
          <p:cNvSpPr/>
          <p:nvPr/>
        </p:nvSpPr>
        <p:spPr>
          <a:xfrm>
            <a:off x="6430022" y="469961"/>
            <a:ext cx="3546484" cy="646331"/>
          </a:xfrm>
          <a:prstGeom prst="rect">
            <a:avLst/>
          </a:prstGeom>
        </p:spPr>
        <p:txBody>
          <a:bodyPr wrap="none">
            <a:spAutoFit/>
          </a:bodyPr>
          <a:lstStyle/>
          <a:p>
            <a:r>
              <a:rPr lang="en-IN" sz="3600" b="1" dirty="0">
                <a:latin typeface="Times New Roman"/>
                <a:cs typeface="Times New Roman"/>
              </a:rPr>
              <a:t>SOURCE</a:t>
            </a:r>
            <a:r>
              <a:rPr lang="en-IN" sz="3600" b="1" spc="-65" dirty="0">
                <a:latin typeface="Times New Roman"/>
                <a:cs typeface="Times New Roman"/>
              </a:rPr>
              <a:t> </a:t>
            </a:r>
            <a:r>
              <a:rPr lang="en-IN" sz="3600" b="1" spc="-5" dirty="0">
                <a:latin typeface="Times New Roman"/>
                <a:cs typeface="Times New Roman"/>
              </a:rPr>
              <a:t>CODE</a:t>
            </a:r>
            <a:endParaRPr lang="en-IN" sz="3600" b="1" dirty="0"/>
          </a:p>
        </p:txBody>
      </p:sp>
      <p:pic>
        <p:nvPicPr>
          <p:cNvPr id="10" name="Picture 9">
            <a:extLst>
              <a:ext uri="{FF2B5EF4-FFF2-40B4-BE49-F238E27FC236}">
                <a16:creationId xmlns:a16="http://schemas.microsoft.com/office/drawing/2014/main" id="{D5881D23-ED44-6CB5-2E8A-54ED10A80B86}"/>
              </a:ext>
            </a:extLst>
          </p:cNvPr>
          <p:cNvPicPr>
            <a:picLocks noChangeAspect="1"/>
          </p:cNvPicPr>
          <p:nvPr/>
        </p:nvPicPr>
        <p:blipFill>
          <a:blip r:embed="rId2"/>
          <a:stretch>
            <a:fillRect/>
          </a:stretch>
        </p:blipFill>
        <p:spPr>
          <a:xfrm>
            <a:off x="1922932" y="1176543"/>
            <a:ext cx="14506771" cy="761754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29</a:t>
            </a:fld>
            <a:endParaRPr lang="en-US"/>
          </a:p>
        </p:txBody>
      </p:sp>
      <p:sp>
        <p:nvSpPr>
          <p:cNvPr id="5" name="Rectangle 4"/>
          <p:cNvSpPr/>
          <p:nvPr/>
        </p:nvSpPr>
        <p:spPr>
          <a:xfrm>
            <a:off x="6120916" y="532307"/>
            <a:ext cx="3288080" cy="646331"/>
          </a:xfrm>
          <a:prstGeom prst="rect">
            <a:avLst/>
          </a:prstGeom>
        </p:spPr>
        <p:txBody>
          <a:bodyPr wrap="none">
            <a:spAutoFit/>
          </a:bodyPr>
          <a:lstStyle/>
          <a:p>
            <a:r>
              <a:rPr lang="en-IN" sz="3600" b="1" spc="-20" dirty="0">
                <a:latin typeface="Times New Roman"/>
                <a:cs typeface="Times New Roman"/>
              </a:rPr>
              <a:t>CONCLUSION</a:t>
            </a:r>
            <a:endParaRPr lang="en-IN" sz="3600" b="1" dirty="0"/>
          </a:p>
        </p:txBody>
      </p:sp>
      <p:sp>
        <p:nvSpPr>
          <p:cNvPr id="6" name="TextBox 5"/>
          <p:cNvSpPr txBox="1"/>
          <p:nvPr/>
        </p:nvSpPr>
        <p:spPr>
          <a:xfrm>
            <a:off x="899410" y="1683327"/>
            <a:ext cx="16998845" cy="747897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itchFamily="18" charset="0"/>
                <a:cs typeface="Times New Roman" pitchFamily="18" charset="0"/>
              </a:rPr>
              <a:t>Full System Integration: The project successfully linked the Flask web application, Flask-</a:t>
            </a:r>
            <a:r>
              <a:rPr lang="en-US" sz="2400" dirty="0" err="1">
                <a:latin typeface="Times New Roman" pitchFamily="18" charset="0"/>
                <a:cs typeface="Times New Roman" pitchFamily="18" charset="0"/>
              </a:rPr>
              <a:t>SQLAlchemy</a:t>
            </a:r>
            <a:r>
              <a:rPr lang="en-US" sz="2400" dirty="0">
                <a:latin typeface="Times New Roman" pitchFamily="18" charset="0"/>
                <a:cs typeface="Times New Roman" pitchFamily="18" charset="0"/>
              </a:rPr>
              <a:t> (database), and the YOLO Deep Learning model into one cohesive, functional diagnostic pipeline.</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Role-Based Security: Implemented mandatory authentication and distinct workflows for Patients, Doctors, and Administrators, ensuring secure access and proper handling of medical data.</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Rapid AI Triage: The system provides immediate AI Prediction and Confidence Scores upon image upload, significantly accelerating the initial diagnosis time for the doctor.</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Traceability &amp; Accountability: The database structure ensures every Scan record is permanently linked to the submitting patient and the official reviewing doctor, creating a complete and auditable history.</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Doctor Workflow Optimization: The platform efficiently routes and queues pending scans for the Doctor, simplifying case management and final diagnosis submission.</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Future Goal: AI Explainability: Next steps include integrating visualization tools (like heatmaps) to show the Doctor the exact region the AI detected the fracture, enhancing trust and clinical relevance.</a:t>
            </a:r>
          </a:p>
          <a:p>
            <a:pPr marL="342900" indent="-342900" algn="just">
              <a:buFont typeface="Arial" panose="020B0604020202020204" pitchFamily="34" charset="0"/>
              <a:buChar char="•"/>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a:latin typeface="Times New Roman" pitchFamily="18" charset="0"/>
                <a:cs typeface="Times New Roman" pitchFamily="18" charset="0"/>
              </a:rPr>
              <a:t>Future Goal: Scalability &amp; Alerts: Development efforts should focus on implementing asynchronous processing for handling heavy workloads and adding automated notification alerts for rapid communication between all users.</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30</a:t>
            </a:fld>
            <a:endParaRPr lang="en-US"/>
          </a:p>
        </p:txBody>
      </p:sp>
      <p:sp>
        <p:nvSpPr>
          <p:cNvPr id="5" name="Rectangle 4"/>
          <p:cNvSpPr/>
          <p:nvPr/>
        </p:nvSpPr>
        <p:spPr>
          <a:xfrm>
            <a:off x="6373884" y="324488"/>
            <a:ext cx="5282856" cy="646331"/>
          </a:xfrm>
          <a:prstGeom prst="rect">
            <a:avLst/>
          </a:prstGeom>
        </p:spPr>
        <p:txBody>
          <a:bodyPr wrap="none">
            <a:spAutoFit/>
          </a:bodyPr>
          <a:lstStyle/>
          <a:p>
            <a:r>
              <a:rPr lang="en-IN" sz="3600" b="1" spc="15" dirty="0">
                <a:latin typeface="Times New Roman" pitchFamily="18" charset="0"/>
                <a:cs typeface="Times New Roman" pitchFamily="18" charset="0"/>
              </a:rPr>
              <a:t>Plagiarism</a:t>
            </a:r>
            <a:r>
              <a:rPr lang="en-IN" sz="3600" b="1" spc="-210" dirty="0">
                <a:latin typeface="Times New Roman" pitchFamily="18" charset="0"/>
                <a:cs typeface="Times New Roman" pitchFamily="18" charset="0"/>
              </a:rPr>
              <a:t> </a:t>
            </a:r>
            <a:r>
              <a:rPr lang="en-IN" sz="3600" b="1" spc="5" dirty="0">
                <a:latin typeface="Times New Roman" pitchFamily="18" charset="0"/>
                <a:cs typeface="Times New Roman" pitchFamily="18" charset="0"/>
              </a:rPr>
              <a:t>Report</a:t>
            </a:r>
            <a:r>
              <a:rPr lang="en-IN" sz="3600" b="1" spc="-35" dirty="0">
                <a:latin typeface="Times New Roman" pitchFamily="18" charset="0"/>
                <a:cs typeface="Times New Roman" pitchFamily="18" charset="0"/>
              </a:rPr>
              <a:t> </a:t>
            </a:r>
            <a:r>
              <a:rPr lang="en-IN" sz="3600" b="1" spc="10" dirty="0">
                <a:latin typeface="Times New Roman" pitchFamily="18" charset="0"/>
                <a:cs typeface="Times New Roman" pitchFamily="18" charset="0"/>
              </a:rPr>
              <a:t>of</a:t>
            </a:r>
            <a:r>
              <a:rPr lang="en-IN" sz="3600" b="1" spc="-55" dirty="0">
                <a:latin typeface="Times New Roman" pitchFamily="18" charset="0"/>
                <a:cs typeface="Times New Roman" pitchFamily="18" charset="0"/>
              </a:rPr>
              <a:t> </a:t>
            </a:r>
            <a:r>
              <a:rPr lang="en-IN" sz="3600" b="1" spc="-15" dirty="0">
                <a:latin typeface="Times New Roman" pitchFamily="18" charset="0"/>
                <a:cs typeface="Times New Roman" pitchFamily="18" charset="0"/>
              </a:rPr>
              <a:t>PPT</a:t>
            </a:r>
            <a:endParaRPr lang="en-IN" sz="3600" b="1" dirty="0">
              <a:latin typeface="Times New Roman" pitchFamily="18" charset="0"/>
              <a:cs typeface="Times New Roman" pitchFamily="18" charset="0"/>
            </a:endParaRPr>
          </a:p>
        </p:txBody>
      </p:sp>
      <p:pic>
        <p:nvPicPr>
          <p:cNvPr id="9" name="Picture 8" descr="A screenshot of a report&#10;&#10;AI-generated content may be incorrect.">
            <a:extLst>
              <a:ext uri="{FF2B5EF4-FFF2-40B4-BE49-F238E27FC236}">
                <a16:creationId xmlns:a16="http://schemas.microsoft.com/office/drawing/2014/main" id="{229A8AAF-09D5-1C18-17AD-A5D676B91A59}"/>
              </a:ext>
            </a:extLst>
          </p:cNvPr>
          <p:cNvPicPr>
            <a:picLocks noChangeAspect="1"/>
          </p:cNvPicPr>
          <p:nvPr/>
        </p:nvPicPr>
        <p:blipFill>
          <a:blip r:embed="rId2"/>
          <a:stretch>
            <a:fillRect/>
          </a:stretch>
        </p:blipFill>
        <p:spPr>
          <a:xfrm>
            <a:off x="1830897" y="1302299"/>
            <a:ext cx="14873240" cy="731894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31</a:t>
            </a:fld>
            <a:endParaRPr lang="en-US"/>
          </a:p>
        </p:txBody>
      </p:sp>
      <p:sp>
        <p:nvSpPr>
          <p:cNvPr id="5" name="Rectangle 4"/>
          <p:cNvSpPr/>
          <p:nvPr/>
        </p:nvSpPr>
        <p:spPr>
          <a:xfrm>
            <a:off x="6236507" y="511524"/>
            <a:ext cx="5453096" cy="646331"/>
          </a:xfrm>
          <a:prstGeom prst="rect">
            <a:avLst/>
          </a:prstGeom>
        </p:spPr>
        <p:txBody>
          <a:bodyPr wrap="none">
            <a:spAutoFit/>
          </a:bodyPr>
          <a:lstStyle/>
          <a:p>
            <a:r>
              <a:rPr lang="en-IN" sz="3600" b="1" spc="-5" dirty="0">
                <a:latin typeface="Times New Roman" pitchFamily="18" charset="0"/>
                <a:cs typeface="Times New Roman" pitchFamily="18" charset="0"/>
              </a:rPr>
              <a:t>Web</a:t>
            </a:r>
            <a:r>
              <a:rPr lang="en-IN" sz="3600" b="1" spc="-40" dirty="0">
                <a:latin typeface="Times New Roman" pitchFamily="18" charset="0"/>
                <a:cs typeface="Times New Roman" pitchFamily="18" charset="0"/>
              </a:rPr>
              <a:t> </a:t>
            </a:r>
            <a:r>
              <a:rPr lang="en-IN" sz="3600" b="1" spc="5" dirty="0">
                <a:latin typeface="Times New Roman" pitchFamily="18" charset="0"/>
                <a:cs typeface="Times New Roman" pitchFamily="18" charset="0"/>
              </a:rPr>
              <a:t>references/video</a:t>
            </a:r>
            <a:r>
              <a:rPr lang="en-IN" sz="3600" b="1" spc="-114" dirty="0">
                <a:latin typeface="Times New Roman" pitchFamily="18" charset="0"/>
                <a:cs typeface="Times New Roman" pitchFamily="18" charset="0"/>
              </a:rPr>
              <a:t> </a:t>
            </a:r>
            <a:r>
              <a:rPr lang="en-IN" sz="3600" b="1" spc="20" dirty="0">
                <a:latin typeface="Times New Roman" pitchFamily="18" charset="0"/>
                <a:cs typeface="Times New Roman" pitchFamily="18" charset="0"/>
              </a:rPr>
              <a:t>links</a:t>
            </a:r>
            <a:endParaRPr lang="en-IN" sz="3600" b="1" dirty="0">
              <a:latin typeface="Times New Roman" pitchFamily="18" charset="0"/>
              <a:cs typeface="Times New Roman" pitchFamily="18" charset="0"/>
            </a:endParaRPr>
          </a:p>
        </p:txBody>
      </p:sp>
      <p:sp>
        <p:nvSpPr>
          <p:cNvPr id="6" name="TextBox 5"/>
          <p:cNvSpPr txBox="1"/>
          <p:nvPr/>
        </p:nvSpPr>
        <p:spPr>
          <a:xfrm>
            <a:off x="1122218" y="2119745"/>
            <a:ext cx="13493433"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“Bone fracture detection using YOLO algorithm”</a:t>
            </a:r>
          </a:p>
          <a:p>
            <a:r>
              <a:rPr lang="en-US" sz="2400" dirty="0">
                <a:latin typeface="Times New Roman" panose="02020603050405020304" pitchFamily="18" charset="0"/>
                <a:cs typeface="Times New Roman" panose="02020603050405020304" pitchFamily="18" charset="0"/>
              </a:rPr>
              <a:t>       				https://github.com/topics/yolo-bone-fracture-detection</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“Automated bone fracture detection and classification using deep learning”	</a:t>
            </a:r>
          </a:p>
          <a:p>
            <a:r>
              <a:rPr lang="en-US" sz="2400" dirty="0">
                <a:latin typeface="Times New Roman" panose="02020603050405020304" pitchFamily="18" charset="0"/>
                <a:cs typeface="Times New Roman" panose="02020603050405020304" pitchFamily="18" charset="0"/>
              </a:rPr>
              <a:t>				https://www.sciencedirect.com/science/article/pii/S1877050921003812</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“YOLO based fracture detection tutorial | X-ray dataset”</a:t>
            </a:r>
          </a:p>
          <a:p>
            <a:r>
              <a:rPr lang="en-US" sz="2400" dirty="0">
                <a:latin typeface="Times New Roman" panose="02020603050405020304" pitchFamily="18" charset="0"/>
                <a:cs typeface="Times New Roman" panose="02020603050405020304" pitchFamily="18" charset="0"/>
              </a:rPr>
              <a:t>				https://www.youtube.com/watch?v=CyZw4bRJpcg</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object detection with YOLO for medical imaging”</a:t>
            </a:r>
          </a:p>
          <a:p>
            <a:pPr lvl="3"/>
            <a:r>
              <a:rPr lang="en-US" sz="2400" dirty="0">
                <a:latin typeface="Times New Roman" panose="02020603050405020304" pitchFamily="18" charset="0"/>
                <a:cs typeface="Times New Roman" panose="02020603050405020304" pitchFamily="18" charset="0"/>
              </a:rPr>
              <a:t>	https://www.mathworks.com/help/vision/ug/object-detection-using-yolo-v2.html</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November 10, 2025</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32</a:t>
            </a:fld>
            <a:endParaRPr lang="en-US"/>
          </a:p>
        </p:txBody>
      </p:sp>
      <p:sp>
        <p:nvSpPr>
          <p:cNvPr id="5" name="Rectangle 4"/>
          <p:cNvSpPr/>
          <p:nvPr/>
        </p:nvSpPr>
        <p:spPr>
          <a:xfrm>
            <a:off x="5914060" y="442258"/>
            <a:ext cx="9575769" cy="646331"/>
          </a:xfrm>
          <a:prstGeom prst="rect">
            <a:avLst/>
          </a:prstGeom>
        </p:spPr>
        <p:txBody>
          <a:bodyPr wrap="square">
            <a:spAutoFit/>
          </a:bodyPr>
          <a:lstStyle/>
          <a:p>
            <a:r>
              <a:rPr lang="en-IN" sz="3600" b="1" dirty="0">
                <a:latin typeface="Times New Roman" pitchFamily="18" charset="0"/>
                <a:cs typeface="Times New Roman" pitchFamily="18" charset="0"/>
              </a:rPr>
              <a:t>REFERENCES</a:t>
            </a:r>
            <a:endParaRPr lang="en-IN" sz="3600" b="1" dirty="0"/>
          </a:p>
        </p:txBody>
      </p:sp>
      <p:sp>
        <p:nvSpPr>
          <p:cNvPr id="6" name="TextBox 5"/>
          <p:cNvSpPr txBox="1"/>
          <p:nvPr/>
        </p:nvSpPr>
        <p:spPr>
          <a:xfrm>
            <a:off x="353291" y="2078182"/>
            <a:ext cx="17373600" cy="5632311"/>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[1] A. Kutbi, A. Al-</a:t>
            </a:r>
            <a:r>
              <a:rPr lang="en-IN" sz="2400" dirty="0" err="1">
                <a:latin typeface="Times New Roman" panose="02020603050405020304" pitchFamily="18" charset="0"/>
                <a:cs typeface="Times New Roman" panose="02020603050405020304" pitchFamily="18" charset="0"/>
              </a:rPr>
              <a:t>Saggaf</a:t>
            </a:r>
            <a:r>
              <a:rPr lang="en-IN" sz="2400" dirty="0">
                <a:latin typeface="Times New Roman" panose="02020603050405020304" pitchFamily="18" charset="0"/>
                <a:cs typeface="Times New Roman" panose="02020603050405020304" pitchFamily="18" charset="0"/>
              </a:rPr>
              <a:t>, and A. M. Al-Ahmadi, “Artificial intelligence-based applications for bone fracture detection: A systematic review,” </a:t>
            </a:r>
            <a:r>
              <a:rPr lang="en-IN" sz="2400" i="1" dirty="0">
                <a:latin typeface="Times New Roman" panose="02020603050405020304" pitchFamily="18" charset="0"/>
                <a:cs typeface="Times New Roman" panose="02020603050405020304" pitchFamily="18" charset="0"/>
              </a:rPr>
              <a:t>Healthcare</a:t>
            </a:r>
            <a:r>
              <a:rPr lang="en-IN" sz="2400" dirty="0">
                <a:latin typeface="Times New Roman" panose="02020603050405020304" pitchFamily="18" charset="0"/>
                <a:cs typeface="Times New Roman" panose="02020603050405020304" pitchFamily="18" charset="0"/>
              </a:rPr>
              <a:t>, vol. 12, no. 3, pp. 309–325, 2024.</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(Survey of existing fracture detection methods – shows gaps in current solutions.)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 L. Su, Y. Wang, and H. Chen, “Skeletal fracture detection with deep learning: A comprehensive review,” </a:t>
            </a:r>
            <a:r>
              <a:rPr lang="en-IN" sz="2400" i="1" dirty="0">
                <a:latin typeface="Times New Roman" panose="02020603050405020304" pitchFamily="18" charset="0"/>
                <a:cs typeface="Times New Roman" panose="02020603050405020304" pitchFamily="18" charset="0"/>
              </a:rPr>
              <a:t>Frontiers in Radiology</a:t>
            </a:r>
            <a:r>
              <a:rPr lang="en-IN" sz="2400" dirty="0">
                <a:latin typeface="Times New Roman" panose="02020603050405020304" pitchFamily="18" charset="0"/>
                <a:cs typeface="Times New Roman" panose="02020603050405020304" pitchFamily="18" charset="0"/>
              </a:rPr>
              <a:t>, vol. 2, pp. 112–128, 2023.</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(Covers existing deep learning approaches and their challenges.)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P. </a:t>
            </a:r>
            <a:r>
              <a:rPr lang="en-IN" sz="2400" dirty="0" err="1">
                <a:latin typeface="Times New Roman" panose="02020603050405020304" pitchFamily="18" charset="0"/>
                <a:cs typeface="Times New Roman" panose="02020603050405020304" pitchFamily="18" charset="0"/>
              </a:rPr>
              <a:t>Rajpurkar</a:t>
            </a:r>
            <a:r>
              <a:rPr lang="en-IN" sz="2400" dirty="0">
                <a:latin typeface="Times New Roman" panose="02020603050405020304" pitchFamily="18" charset="0"/>
                <a:cs typeface="Times New Roman" panose="02020603050405020304" pitchFamily="18" charset="0"/>
              </a:rPr>
              <a:t> et al., “MURA: Large dataset for abnormality detection in musculoskeletal radiographs,”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arXiv:1712.06957</a:t>
            </a:r>
            <a:r>
              <a:rPr lang="en-IN" sz="2400" dirty="0">
                <a:latin typeface="Times New Roman" panose="02020603050405020304" pitchFamily="18" charset="0"/>
                <a:cs typeface="Times New Roman" panose="02020603050405020304" pitchFamily="18" charset="0"/>
              </a:rPr>
              <a:t>, 2017.</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(Important dataset used for many existing fracture detection systems.)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[4] X. Ju et al., “Fracture detection in </a:t>
            </a:r>
            <a:r>
              <a:rPr lang="en-IN" sz="2400" dirty="0" err="1">
                <a:latin typeface="Times New Roman" panose="02020603050405020304" pitchFamily="18" charset="0"/>
                <a:cs typeface="Times New Roman" panose="02020603050405020304" pitchFamily="18" charset="0"/>
              </a:rPr>
              <a:t>pediatric</a:t>
            </a:r>
            <a:r>
              <a:rPr lang="en-IN" sz="2400" dirty="0">
                <a:latin typeface="Times New Roman" panose="02020603050405020304" pitchFamily="18" charset="0"/>
                <a:cs typeface="Times New Roman" panose="02020603050405020304" pitchFamily="18" charset="0"/>
              </a:rPr>
              <a:t> wrist trauma X-ray images using YOLOv8,” </a:t>
            </a:r>
            <a:r>
              <a:rPr lang="en-IN" sz="2400" i="1" dirty="0">
                <a:latin typeface="Times New Roman" panose="02020603050405020304" pitchFamily="18" charset="0"/>
                <a:cs typeface="Times New Roman" panose="02020603050405020304" pitchFamily="18" charset="0"/>
              </a:rPr>
              <a:t>Scientific Reports</a:t>
            </a:r>
            <a:r>
              <a:rPr lang="en-IN" sz="2400" dirty="0">
                <a:latin typeface="Times New Roman" panose="02020603050405020304" pitchFamily="18" charset="0"/>
                <a:cs typeface="Times New Roman" panose="02020603050405020304" pitchFamily="18" charset="0"/>
              </a:rPr>
              <a:t>, vol. 13, no. 12567, pp. 1–12, 2023.</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(Supports your approach – shows YOLO is effective for fracture detection.)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[5] Z. Wu et al., “YOLOv9: Improved real-time object detection with enhanced feature learning,”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arXiv:2402.13616</a:t>
            </a:r>
            <a:r>
              <a:rPr lang="en-IN" sz="2400" dirty="0">
                <a:latin typeface="Times New Roman" panose="02020603050405020304" pitchFamily="18" charset="0"/>
                <a:cs typeface="Times New Roman" panose="02020603050405020304" pitchFamily="18" charset="0"/>
              </a:rPr>
              <a:t>, 2024.</a:t>
            </a:r>
            <a:br>
              <a:rPr lang="en-IN" sz="2400" dirty="0">
                <a:latin typeface="Times New Roman" panose="02020603050405020304" pitchFamily="18" charset="0"/>
                <a:cs typeface="Times New Roman" panose="02020603050405020304" pitchFamily="18" charset="0"/>
              </a:rPr>
            </a:br>
            <a:r>
              <a:rPr lang="en-IN" sz="2400" i="1" dirty="0">
                <a:latin typeface="Times New Roman" panose="02020603050405020304" pitchFamily="18" charset="0"/>
                <a:cs typeface="Times New Roman" panose="02020603050405020304" pitchFamily="18" charset="0"/>
              </a:rPr>
              <a:t>(Latest YOLO variant – supports your use of YOLO-based methods.)</a:t>
            </a:r>
            <a:endParaRPr lang="en-IN" sz="2400" dirty="0">
              <a:latin typeface="Times New Roman" panose="02020603050405020304" pitchFamily="18" charset="0"/>
              <a:cs typeface="Times New Roman" panose="02020603050405020304" pitchFamily="18" charset="0"/>
            </a:endParaRPr>
          </a:p>
          <a:p>
            <a:endParaRPr lang="en-US" altLang="en-US" sz="2400"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34547" y="3345873"/>
            <a:ext cx="4592782"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IN" sz="5400" b="1" spc="50" dirty="0">
                <a:ln w="11430"/>
                <a:solidFill>
                  <a:srgbClr val="002060"/>
                </a:solidFill>
                <a:effectLst>
                  <a:outerShdw blurRad="76200" dist="50800" dir="5400000" algn="tl" rotWithShape="0">
                    <a:srgbClr val="000000">
                      <a:alpha val="65000"/>
                    </a:srgbClr>
                  </a:outerShdw>
                </a:effectLst>
                <a:latin typeface="Times New Roman" pitchFamily="18" charset="0"/>
                <a:cs typeface="Times New Roman" pitchFamily="18" charset="0"/>
              </a:rPr>
              <a:t>THANK YOU</a:t>
            </a:r>
          </a:p>
        </p:txBody>
      </p:sp>
      <p:sp>
        <p:nvSpPr>
          <p:cNvPr id="9" name="Slide Number Placeholder 8">
            <a:extLst>
              <a:ext uri="{FF2B5EF4-FFF2-40B4-BE49-F238E27FC236}">
                <a16:creationId xmlns:a16="http://schemas.microsoft.com/office/drawing/2014/main" id="{DE467E1A-CA3B-20EC-133C-FDE72F8F5F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33</a:t>
            </a:fld>
            <a:endParaRPr lang="en-US"/>
          </a:p>
        </p:txBody>
      </p:sp>
      <p:sp>
        <p:nvSpPr>
          <p:cNvPr id="10" name="Footer Placeholder 9">
            <a:extLst>
              <a:ext uri="{FF2B5EF4-FFF2-40B4-BE49-F238E27FC236}">
                <a16:creationId xmlns:a16="http://schemas.microsoft.com/office/drawing/2014/main" id="{C085D79C-5367-5D11-F316-8E41FBE4E674}"/>
              </a:ext>
            </a:extLst>
          </p:cNvPr>
          <p:cNvSpPr>
            <a:spLocks noGrp="1"/>
          </p:cNvSpPr>
          <p:nvPr>
            <p:ph type="ftr" sz="quarter" idx="11"/>
          </p:nvPr>
        </p:nvSpPr>
        <p:spPr/>
        <p:txBody>
          <a:bodyPr/>
          <a:lstStyle/>
          <a:p>
            <a:r>
              <a:rPr lang="en-IN"/>
              <a:t>DEPARTMENT OF COMPUTER SCIENCE &amp; ENGINEERING   / PROJECT TITLE</a:t>
            </a:r>
          </a:p>
        </p:txBody>
      </p:sp>
      <p:sp>
        <p:nvSpPr>
          <p:cNvPr id="11" name="Date Placeholder 10">
            <a:extLst>
              <a:ext uri="{FF2B5EF4-FFF2-40B4-BE49-F238E27FC236}">
                <a16:creationId xmlns:a16="http://schemas.microsoft.com/office/drawing/2014/main" id="{245F8EC2-D106-5A27-3961-508236D30CF6}"/>
              </a:ext>
            </a:extLst>
          </p:cNvPr>
          <p:cNvSpPr>
            <a:spLocks noGrp="1"/>
          </p:cNvSpPr>
          <p:nvPr>
            <p:ph type="dt" sz="half" idx="10"/>
          </p:nvPr>
        </p:nvSpPr>
        <p:spPr/>
        <p:txBody>
          <a:bodyPr/>
          <a:lstStyle/>
          <a:p>
            <a:fld id="{FC19F4A3-E32D-4520-B9BC-6787D8D72445}" type="datetime4">
              <a:rPr lang="en-US" smtClean="0"/>
              <a:pPr/>
              <a:t>November 10, 2025</a:t>
            </a:fld>
            <a:endParaRPr lang="en-US"/>
          </a:p>
        </p:txBody>
      </p:sp>
      <p:pic>
        <p:nvPicPr>
          <p:cNvPr id="8" name="Picture 7" descr="E:\WINDER SEM 2024-25\College Logo.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49891" y="7107382"/>
            <a:ext cx="6328321" cy="1583001"/>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1081</TotalTime>
  <Words>4711</Words>
  <Application>Microsoft Office PowerPoint</Application>
  <PresentationFormat>Custom</PresentationFormat>
  <Paragraphs>395</Paragraphs>
  <Slides>33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Times New Roman</vt:lpstr>
      <vt:lpstr>Wingdings</vt:lpstr>
      <vt:lpstr>Calibri</vt:lpstr>
      <vt:lpstr>Arial</vt:lpstr>
      <vt:lpstr>Calibri Light</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Navadeep Krishna</cp:lastModifiedBy>
  <cp:revision>32</cp:revision>
  <dcterms:modified xsi:type="dcterms:W3CDTF">2025-11-10T04:48:41Z</dcterms:modified>
</cp:coreProperties>
</file>