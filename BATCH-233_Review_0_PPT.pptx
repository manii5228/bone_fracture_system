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0" r:id="rId1"/>
  </p:sldMasterIdLst>
  <p:notesMasterIdLst>
    <p:notesMasterId r:id="rId9"/>
  </p:notesMasterIdLst>
  <p:handoutMasterIdLst>
    <p:handoutMasterId r:id="rId10"/>
  </p:handoutMasterIdLst>
  <p:sldIdLst>
    <p:sldId id="287" r:id="rId2"/>
    <p:sldId id="319" r:id="rId3"/>
    <p:sldId id="320" r:id="rId4"/>
    <p:sldId id="321" r:id="rId5"/>
    <p:sldId id="322" r:id="rId6"/>
    <p:sldId id="318" r:id="rId7"/>
    <p:sldId id="294" r:id="rId8"/>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4624" autoAdjust="0"/>
  </p:normalViewPr>
  <p:slideViewPr>
    <p:cSldViewPr snapToGrid="0">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62" d="100"/>
          <a:sy n="62"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FA86EE7-89B6-FEE2-F11A-B1C827A6F2A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076B784-4FB6-471C-91EA-1AAA7047F172}" type="slidenum">
              <a:rPr lang="en-IN" smtClean="0"/>
              <a:pPr/>
              <a:t>‹#›</a:t>
            </a:fld>
            <a:endParaRPr lang="en-IN"/>
          </a:p>
        </p:txBody>
      </p:sp>
      <p:sp>
        <p:nvSpPr>
          <p:cNvPr id="9" name="Header Placeholder 8">
            <a:extLst>
              <a:ext uri="{FF2B5EF4-FFF2-40B4-BE49-F238E27FC236}">
                <a16:creationId xmlns:a16="http://schemas.microsoft.com/office/drawing/2014/main" id="{B6AE105E-16BB-A797-0565-5E95A0F7C51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dirty="0" err="1"/>
              <a:t>xvs</a:t>
            </a:r>
            <a:endParaRPr lang="en-IN" dirty="0"/>
          </a:p>
        </p:txBody>
      </p:sp>
      <p:sp>
        <p:nvSpPr>
          <p:cNvPr id="12" name="Date Placeholder 11">
            <a:extLst>
              <a:ext uri="{FF2B5EF4-FFF2-40B4-BE49-F238E27FC236}">
                <a16:creationId xmlns:a16="http://schemas.microsoft.com/office/drawing/2014/main" id="{F4D49AAD-8FE3-8291-6D10-5C0BCFBE0E7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F12033-2EDF-405D-A660-8698D41E1567}" type="datetime1">
              <a:rPr lang="en-US" smtClean="0"/>
              <a:pPr/>
              <a:t>8/23/2025</a:t>
            </a:fld>
            <a:endParaRPr lang="en-IN"/>
          </a:p>
        </p:txBody>
      </p:sp>
      <p:sp>
        <p:nvSpPr>
          <p:cNvPr id="14" name="Footer Placeholder 13">
            <a:extLst>
              <a:ext uri="{FF2B5EF4-FFF2-40B4-BE49-F238E27FC236}">
                <a16:creationId xmlns:a16="http://schemas.microsoft.com/office/drawing/2014/main" id="{23FBE854-ECCB-3414-A781-B2D310C20D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SAD</a:t>
            </a: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448184785"/>
      </p:ext>
    </p:extLst>
  </p:cSld>
  <p:clrMap bg1="lt1" tx1="dk1" bg2="dk2" tx2="lt2" accent1="accent1" accent2="accent2" accent3="accent3" accent4="accent4" accent5="accent5" accent6="accent6" hlink="hlink" folHlink="folHlink"/>
  <p:hf hdr="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a:p>
        </p:txBody>
      </p:sp>
    </p:spTree>
    <p:extLst>
      <p:ext uri="{BB962C8B-B14F-4D97-AF65-F5344CB8AC3E}">
        <p14:creationId xmlns:p14="http://schemas.microsoft.com/office/powerpoint/2010/main" val="3281862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Tree>
    <p:extLst>
      <p:ext uri="{BB962C8B-B14F-4D97-AF65-F5344CB8AC3E}">
        <p14:creationId xmlns:p14="http://schemas.microsoft.com/office/powerpoint/2010/main" val="9876523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645920" y="1138428"/>
            <a:ext cx="15087600" cy="5349240"/>
          </a:xfrm>
        </p:spPr>
        <p:txBody>
          <a:bodyPr anchor="b">
            <a:normAutofit/>
          </a:bodyPr>
          <a:lstStyle>
            <a:lvl1pPr algn="l">
              <a:lnSpc>
                <a:spcPct val="85000"/>
              </a:lnSpc>
              <a:defRPr sz="12000" spc="-75"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650077" y="6683430"/>
            <a:ext cx="15087600" cy="1714500"/>
          </a:xfrm>
        </p:spPr>
        <p:txBody>
          <a:bodyPr lIns="91440" rIns="91440">
            <a:normAutofit/>
          </a:bodyPr>
          <a:lstStyle>
            <a:lvl1pPr marL="0" indent="0" algn="l">
              <a:buNone/>
              <a:defRPr sz="3600" cap="all" spc="300" baseline="0">
                <a:solidFill>
                  <a:schemeClr val="tx2"/>
                </a:solidFill>
                <a:latin typeface="+mj-lt"/>
              </a:defRPr>
            </a:lvl1pPr>
            <a:lvl2pPr marL="685800" indent="0" algn="ctr">
              <a:buNone/>
              <a:defRPr sz="3600"/>
            </a:lvl2pPr>
            <a:lvl3pPr marL="1371600" indent="0" algn="ctr">
              <a:buNone/>
              <a:defRPr sz="3600"/>
            </a:lvl3pPr>
            <a:lvl4pPr marL="2057400" indent="0" algn="ctr">
              <a:buNone/>
              <a:defRPr sz="3000"/>
            </a:lvl4pPr>
            <a:lvl5pPr marL="2743200" indent="0" algn="ctr">
              <a:buNone/>
              <a:defRPr sz="3000"/>
            </a:lvl5pPr>
            <a:lvl6pPr marL="3429000" indent="0" algn="ctr">
              <a:buNone/>
              <a:defRPr sz="3000"/>
            </a:lvl6pPr>
            <a:lvl7pPr marL="4114800" indent="0" algn="ctr">
              <a:buNone/>
              <a:defRPr sz="3000"/>
            </a:lvl7pPr>
            <a:lvl8pPr marL="4800600" indent="0" algn="ctr">
              <a:buNone/>
              <a:defRPr sz="3000"/>
            </a:lvl8pPr>
            <a:lvl9pPr marL="5486400" indent="0" algn="ctr">
              <a:buNone/>
              <a:defRPr sz="3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42A4A78-AB98-4C27-A03B-1FDB5F943EB5}" type="datetime4">
              <a:rPr lang="en-US" smtClean="0"/>
              <a:pPr/>
              <a:t>August 23, 2025</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cxnSp>
        <p:nvCxnSpPr>
          <p:cNvPr id="9" name="Straight Connector 8"/>
          <p:cNvCxnSpPr/>
          <p:nvPr/>
        </p:nvCxnSpPr>
        <p:spPr>
          <a:xfrm>
            <a:off x="1811487" y="6515100"/>
            <a:ext cx="1481328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6880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D00544-B2CB-480A-8E68-8A818093FCE5}" type="datetime4">
              <a:rPr lang="en-US" smtClean="0"/>
              <a:pPr/>
              <a:t>August 23, 2025</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337648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45920" y="1138428"/>
            <a:ext cx="15087600" cy="5349240"/>
          </a:xfrm>
        </p:spPr>
        <p:txBody>
          <a:bodyPr anchor="b" anchorCtr="0">
            <a:normAutofit/>
          </a:bodyPr>
          <a:lstStyle>
            <a:lvl1pPr>
              <a:lnSpc>
                <a:spcPct val="85000"/>
              </a:lnSpc>
              <a:defRPr sz="12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645920" y="6679692"/>
            <a:ext cx="15087600" cy="1714500"/>
          </a:xfrm>
        </p:spPr>
        <p:txBody>
          <a:bodyPr lIns="91440" rIns="91440" anchor="t" anchorCtr="0">
            <a:normAutofit/>
          </a:bodyPr>
          <a:lstStyle>
            <a:lvl1pPr marL="0" indent="0">
              <a:buNone/>
              <a:defRPr sz="3600" cap="all" spc="300" baseline="0">
                <a:solidFill>
                  <a:schemeClr val="tx2"/>
                </a:solidFill>
                <a:latin typeface="+mj-lt"/>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C21569-787D-4B28-BF58-C15BD049FF4C}" type="datetime4">
              <a:rPr lang="en-US" smtClean="0"/>
              <a:pPr/>
              <a:t>August 23, 2025</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cxnSp>
        <p:nvCxnSpPr>
          <p:cNvPr id="9" name="Straight Connector 8"/>
          <p:cNvCxnSpPr/>
          <p:nvPr/>
        </p:nvCxnSpPr>
        <p:spPr>
          <a:xfrm>
            <a:off x="1811487" y="6515100"/>
            <a:ext cx="1481328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969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645920" y="429905"/>
            <a:ext cx="15087600" cy="217613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645919" y="2768601"/>
            <a:ext cx="7406640" cy="6035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326880" y="2768603"/>
            <a:ext cx="7406640" cy="6035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689255-858F-4E3D-94A1-E1E39F87E4E8}" type="datetime4">
              <a:rPr lang="en-US" smtClean="0"/>
              <a:pPr/>
              <a:t>August 23, 2025</a:t>
            </a:fld>
            <a:endParaRPr lang="en-US"/>
          </a:p>
        </p:txBody>
      </p:sp>
      <p:sp>
        <p:nvSpPr>
          <p:cNvPr id="6" name="Footer Placeholder 5"/>
          <p:cNvSpPr>
            <a:spLocks noGrp="1"/>
          </p:cNvSpPr>
          <p:nvPr>
            <p:ph type="ftr" sz="quarter" idx="11"/>
          </p:nvPr>
        </p:nvSpPr>
        <p:spPr/>
        <p:txBody>
          <a:bodyPr/>
          <a:lstStyle/>
          <a:p>
            <a:r>
              <a:rPr lang="en-IN"/>
              <a:t>DEPARTMENT OF COMPUTER SCIENCE &amp; ENGINEERING   / PROJECT TITLE</a:t>
            </a: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172548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645920" y="429905"/>
            <a:ext cx="15087600" cy="217613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645920" y="2769078"/>
            <a:ext cx="7406640" cy="1104423"/>
          </a:xfrm>
        </p:spPr>
        <p:txBody>
          <a:bodyPr lIns="91440" rIns="91440" anchor="ctr">
            <a:normAutofit/>
          </a:bodyPr>
          <a:lstStyle>
            <a:lvl1pPr marL="0" indent="0">
              <a:buNone/>
              <a:defRPr sz="3000" b="0" cap="all" baseline="0">
                <a:solidFill>
                  <a:schemeClr val="tx2"/>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645920" y="3873501"/>
            <a:ext cx="7406640" cy="506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326880" y="2769078"/>
            <a:ext cx="7406640" cy="1104423"/>
          </a:xfrm>
        </p:spPr>
        <p:txBody>
          <a:bodyPr lIns="91440" rIns="91440" anchor="ctr">
            <a:normAutofit/>
          </a:bodyPr>
          <a:lstStyle>
            <a:lvl1pPr marL="0" indent="0">
              <a:buNone/>
              <a:defRPr sz="3000" b="0" cap="all" baseline="0">
                <a:solidFill>
                  <a:schemeClr val="tx2"/>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326880" y="3873501"/>
            <a:ext cx="7406640" cy="506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F56071E2-7C69-E08A-1AFE-2E7A0032A58B}"/>
              </a:ext>
            </a:extLst>
          </p:cNvPr>
          <p:cNvSpPr>
            <a:spLocks noGrp="1"/>
          </p:cNvSpPr>
          <p:nvPr>
            <p:ph type="dt" sz="half" idx="10"/>
          </p:nvPr>
        </p:nvSpPr>
        <p:spPr/>
        <p:txBody>
          <a:bodyPr/>
          <a:lstStyle/>
          <a:p>
            <a:fld id="{A81B212C-96E6-4A1C-BD8B-5A9E1F64C4D6}" type="datetime4">
              <a:rPr lang="en-US" smtClean="0"/>
              <a:pPr/>
              <a:t>August 23, 2025</a:t>
            </a:fld>
            <a:endParaRPr lang="en-US"/>
          </a:p>
        </p:txBody>
      </p:sp>
      <p:sp>
        <p:nvSpPr>
          <p:cNvPr id="11" name="Footer Placeholder 10">
            <a:extLst>
              <a:ext uri="{FF2B5EF4-FFF2-40B4-BE49-F238E27FC236}">
                <a16:creationId xmlns:a16="http://schemas.microsoft.com/office/drawing/2014/main" id="{B66C106E-F7C0-F15E-EEAE-7574BABE5A8F}"/>
              </a:ext>
            </a:extLst>
          </p:cNvPr>
          <p:cNvSpPr>
            <a:spLocks noGrp="1"/>
          </p:cNvSpPr>
          <p:nvPr>
            <p:ph type="ftr" sz="quarter" idx="11"/>
          </p:nvPr>
        </p:nvSpPr>
        <p:spPr/>
        <p:txBody>
          <a:bodyPr/>
          <a:lstStyle/>
          <a:p>
            <a:r>
              <a:rPr lang="en-IN"/>
              <a:t>DEPARTMENT OF COMPUTER SCIENCE &amp; ENGINEERING   / PROJECT TITLE</a:t>
            </a:r>
          </a:p>
        </p:txBody>
      </p:sp>
      <p:sp>
        <p:nvSpPr>
          <p:cNvPr id="12" name="Slide Number Placeholder 11">
            <a:extLst>
              <a:ext uri="{FF2B5EF4-FFF2-40B4-BE49-F238E27FC236}">
                <a16:creationId xmlns:a16="http://schemas.microsoft.com/office/drawing/2014/main" id="{8A0CD58A-C169-060C-DAE9-BEFB15E63BE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467317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0E3FEEA-94A0-4780-8034-6B4F50182C72}" type="datetime4">
              <a:rPr lang="en-US" smtClean="0"/>
              <a:pPr/>
              <a:t>August 23, 2025</a:t>
            </a:fld>
            <a:endParaRPr lang="en-US"/>
          </a:p>
        </p:txBody>
      </p:sp>
      <p:sp>
        <p:nvSpPr>
          <p:cNvPr id="4" name="Footer Placeholder 3"/>
          <p:cNvSpPr>
            <a:spLocks noGrp="1"/>
          </p:cNvSpPr>
          <p:nvPr>
            <p:ph type="ftr" sz="quarter" idx="11"/>
          </p:nvPr>
        </p:nvSpPr>
        <p:spPr/>
        <p:txBody>
          <a:bodyPr/>
          <a:lstStyle/>
          <a:p>
            <a:r>
              <a:rPr lang="en-IN"/>
              <a:t>DEPARTMENT OF COMPUTER SCIENCE &amp; ENGINEERING   / PROJECT TITLE</a:t>
            </a:r>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074179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5" name="Rectangle 4"/>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F6CA7D8D-414D-3E98-2A4E-41E1C7826D6F}"/>
              </a:ext>
            </a:extLst>
          </p:cNvPr>
          <p:cNvSpPr>
            <a:spLocks noGrp="1"/>
          </p:cNvSpPr>
          <p:nvPr>
            <p:ph type="dt" sz="half" idx="10"/>
          </p:nvPr>
        </p:nvSpPr>
        <p:spPr/>
        <p:txBody>
          <a:bodyPr/>
          <a:lstStyle/>
          <a:p>
            <a:fld id="{84B1D917-16EA-4D69-8845-9832B0C2F6AA}" type="datetime4">
              <a:rPr lang="en-US" smtClean="0"/>
              <a:pPr/>
              <a:t>August 23, 2025</a:t>
            </a:fld>
            <a:endParaRPr lang="en-US"/>
          </a:p>
        </p:txBody>
      </p:sp>
      <p:sp>
        <p:nvSpPr>
          <p:cNvPr id="3" name="Footer Placeholder 2">
            <a:extLst>
              <a:ext uri="{FF2B5EF4-FFF2-40B4-BE49-F238E27FC236}">
                <a16:creationId xmlns:a16="http://schemas.microsoft.com/office/drawing/2014/main" id="{16911686-75FC-885E-9B6C-C71102A6083A}"/>
              </a:ext>
            </a:extLst>
          </p:cNvPr>
          <p:cNvSpPr>
            <a:spLocks noGrp="1"/>
          </p:cNvSpPr>
          <p:nvPr>
            <p:ph type="ftr" sz="quarter" idx="11"/>
          </p:nvPr>
        </p:nvSpPr>
        <p:spPr/>
        <p:txBody>
          <a:bodyPr/>
          <a:lstStyle/>
          <a:p>
            <a:r>
              <a:rPr lang="en-IN"/>
              <a:t>DEPARTMENT OF COMPUTER SCIENCE &amp; ENGINEERING   / PROJECT TITLE</a:t>
            </a:r>
          </a:p>
        </p:txBody>
      </p:sp>
      <p:sp>
        <p:nvSpPr>
          <p:cNvPr id="4" name="Slide Number Placeholder 3">
            <a:extLst>
              <a:ext uri="{FF2B5EF4-FFF2-40B4-BE49-F238E27FC236}">
                <a16:creationId xmlns:a16="http://schemas.microsoft.com/office/drawing/2014/main" id="{602F1127-9E64-DE43-F6A4-F7AD9B59A69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936066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25" y="0"/>
            <a:ext cx="6076187" cy="10287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060107" y="0"/>
            <a:ext cx="96012" cy="1028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5800" y="891538"/>
            <a:ext cx="4800600" cy="3429000"/>
          </a:xfrm>
        </p:spPr>
        <p:txBody>
          <a:bodyPr anchor="b">
            <a:normAutofit/>
          </a:bodyPr>
          <a:lstStyle>
            <a:lvl1pPr>
              <a:defRPr sz="5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200900" y="1097280"/>
            <a:ext cx="9738360" cy="7886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4389120"/>
            <a:ext cx="4800600" cy="5068686"/>
          </a:xfrm>
        </p:spPr>
        <p:txBody>
          <a:bodyPr lIns="91440" rIns="91440">
            <a:normAutofit/>
          </a:bodyPr>
          <a:lstStyle>
            <a:lvl1pPr marL="0" indent="0">
              <a:buNone/>
              <a:defRPr sz="2250">
                <a:solidFill>
                  <a:srgbClr val="FFFFFF"/>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a:xfrm>
            <a:off x="698268" y="9689678"/>
            <a:ext cx="3927765" cy="547688"/>
          </a:xfrm>
        </p:spPr>
        <p:txBody>
          <a:bodyPr/>
          <a:lstStyle>
            <a:lvl1pPr algn="l">
              <a:defRPr/>
            </a:lvl1pPr>
          </a:lstStyle>
          <a:p>
            <a:fld id="{5A61ED53-1557-48CE-8123-0F97BD6F5650}" type="datetime4">
              <a:rPr lang="en-US" smtClean="0"/>
              <a:pPr/>
              <a:t>August 23, 2025</a:t>
            </a:fld>
            <a:endParaRPr lang="en-US"/>
          </a:p>
        </p:txBody>
      </p:sp>
      <p:sp>
        <p:nvSpPr>
          <p:cNvPr id="6" name="Footer Placeholder 5"/>
          <p:cNvSpPr>
            <a:spLocks noGrp="1"/>
          </p:cNvSpPr>
          <p:nvPr>
            <p:ph type="ftr" sz="quarter" idx="11"/>
          </p:nvPr>
        </p:nvSpPr>
        <p:spPr>
          <a:xfrm>
            <a:off x="7200900" y="9689678"/>
            <a:ext cx="6972300" cy="547688"/>
          </a:xfrm>
        </p:spPr>
        <p:txBody>
          <a:bodyPr/>
          <a:lstStyle>
            <a:lvl1pPr algn="l">
              <a:defRPr>
                <a:solidFill>
                  <a:schemeClr val="tx2"/>
                </a:solidFill>
              </a:defRPr>
            </a:lvl1pPr>
          </a:lstStyle>
          <a:p>
            <a:r>
              <a:rPr lang="en-IN"/>
              <a:t>DEPARTMENT OF COMPUTER SCIENCE &amp; ENGINEERING   / PROJECT TITLE</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3849128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7429500"/>
            <a:ext cx="18283238" cy="285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23" y="737261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45920" y="7612380"/>
            <a:ext cx="15169896" cy="1234440"/>
          </a:xfrm>
        </p:spPr>
        <p:txBody>
          <a:bodyPr lIns="91440" tIns="0" rIns="91440" bIns="0" anchor="b">
            <a:noAutofit/>
          </a:bodyPr>
          <a:lstStyle>
            <a:lvl1pPr>
              <a:defRPr sz="54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3" y="0"/>
            <a:ext cx="18287978" cy="7372614"/>
          </a:xfrm>
          <a:blipFill>
            <a:blip r:embed="rId2"/>
            <a:stretch>
              <a:fillRect/>
            </a:stretch>
          </a:blipFill>
        </p:spPr>
        <p:txBody>
          <a:bodyPr lIns="457200" tIns="457200" anchor="t"/>
          <a:lstStyle>
            <a:lvl1pPr marL="0" indent="0">
              <a:buNone/>
              <a:defRPr sz="4800">
                <a:solidFill>
                  <a:schemeClr val="bg1"/>
                </a:solidFill>
              </a:defRPr>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645920" y="8860535"/>
            <a:ext cx="15169896" cy="891540"/>
          </a:xfrm>
        </p:spPr>
        <p:txBody>
          <a:bodyPr lIns="91440" tIns="0" rIns="91440" bIns="0">
            <a:normAutofit/>
          </a:bodyPr>
          <a:lstStyle>
            <a:lvl1pPr marL="0" indent="0">
              <a:spcBef>
                <a:spcPts val="0"/>
              </a:spcBef>
              <a:spcAft>
                <a:spcPts val="900"/>
              </a:spcAft>
              <a:buNone/>
              <a:defRPr sz="2250">
                <a:solidFill>
                  <a:srgbClr val="FFFFFF"/>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66FC48DB-39AD-497D-8330-7463C2179DE1}" type="datetime4">
              <a:rPr lang="en-US" smtClean="0"/>
              <a:pPr/>
              <a:t>August 23, 2025</a:t>
            </a:fld>
            <a:endParaRPr lang="en-US"/>
          </a:p>
        </p:txBody>
      </p:sp>
      <p:sp>
        <p:nvSpPr>
          <p:cNvPr id="6" name="Footer Placeholder 5"/>
          <p:cNvSpPr>
            <a:spLocks noGrp="1"/>
          </p:cNvSpPr>
          <p:nvPr>
            <p:ph type="ftr" sz="quarter" idx="11"/>
          </p:nvPr>
        </p:nvSpPr>
        <p:spPr/>
        <p:txBody>
          <a:bodyPr/>
          <a:lstStyle/>
          <a:p>
            <a:r>
              <a:rPr lang="en-IN"/>
              <a:t>DEPARTMENT OF COMPUTER SCIENCE &amp; ENGINEERING   / PROJECT TITLE</a:t>
            </a: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2435646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13E0C0-228A-4082-81D2-A22D1B3A4D51}" type="datetime4">
              <a:rPr lang="en-US" smtClean="0"/>
              <a:pPr/>
              <a:t>August 23, 2025</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2934050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3087350" y="622168"/>
            <a:ext cx="3943350" cy="86361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622167"/>
            <a:ext cx="11601450" cy="8636133"/>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138729-B38B-4E7B-A4F9-C7D61D129B30}" type="datetime4">
              <a:rPr lang="en-US" smtClean="0"/>
              <a:pPr/>
              <a:t>August 23, 2025</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extLst>
      <p:ext uri="{BB962C8B-B14F-4D97-AF65-F5344CB8AC3E}">
        <p14:creationId xmlns:p14="http://schemas.microsoft.com/office/powerpoint/2010/main" val="1794050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 y="9601200"/>
            <a:ext cx="18288000"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9501474"/>
            <a:ext cx="18288002" cy="989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645920" y="429905"/>
            <a:ext cx="15087600" cy="217613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645920" y="2768601"/>
            <a:ext cx="15087600" cy="603504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645921" y="9689678"/>
            <a:ext cx="3708407" cy="547688"/>
          </a:xfrm>
          <a:prstGeom prst="rect">
            <a:avLst/>
          </a:prstGeom>
        </p:spPr>
        <p:txBody>
          <a:bodyPr vert="horz" lIns="91440" tIns="45720" rIns="91440" bIns="45720" rtlCol="0" anchor="ctr"/>
          <a:lstStyle>
            <a:lvl1pPr algn="l">
              <a:defRPr sz="1350">
                <a:solidFill>
                  <a:srgbClr val="FFFFFF"/>
                </a:solidFill>
              </a:defRPr>
            </a:lvl1pPr>
          </a:lstStyle>
          <a:p>
            <a:fld id="{04A8CDA6-3F51-4CAD-8EC3-2E80C1A81474}" type="datetime4">
              <a:rPr lang="en-US" smtClean="0"/>
              <a:pPr/>
              <a:t>August 23, 2025</a:t>
            </a:fld>
            <a:endParaRPr lang="en-US"/>
          </a:p>
        </p:txBody>
      </p:sp>
      <p:sp>
        <p:nvSpPr>
          <p:cNvPr id="5" name="Footer Placeholder 4"/>
          <p:cNvSpPr>
            <a:spLocks noGrp="1"/>
          </p:cNvSpPr>
          <p:nvPr>
            <p:ph type="ftr" sz="quarter" idx="3"/>
          </p:nvPr>
        </p:nvSpPr>
        <p:spPr>
          <a:xfrm>
            <a:off x="5529278" y="9689678"/>
            <a:ext cx="7234206" cy="547688"/>
          </a:xfrm>
          <a:prstGeom prst="rect">
            <a:avLst/>
          </a:prstGeom>
        </p:spPr>
        <p:txBody>
          <a:bodyPr vert="horz" lIns="91440" tIns="45720" rIns="91440" bIns="45720" rtlCol="0" anchor="ctr"/>
          <a:lstStyle>
            <a:lvl1pPr algn="ctr">
              <a:defRPr sz="1350" cap="all" baseline="0">
                <a:solidFill>
                  <a:srgbClr val="FFFFFF"/>
                </a:solidFill>
              </a:defRPr>
            </a:lvl1pPr>
          </a:lstStyle>
          <a:p>
            <a:r>
              <a:rPr lang="en-IN"/>
              <a:t>DEPARTMENT OF COMPUTER SCIENCE &amp; ENGINEERING   / PROJECT TITLE</a:t>
            </a:r>
          </a:p>
        </p:txBody>
      </p:sp>
      <p:sp>
        <p:nvSpPr>
          <p:cNvPr id="6" name="Slide Number Placeholder 5"/>
          <p:cNvSpPr>
            <a:spLocks noGrp="1"/>
          </p:cNvSpPr>
          <p:nvPr>
            <p:ph type="sldNum" sz="quarter" idx="4"/>
          </p:nvPr>
        </p:nvSpPr>
        <p:spPr>
          <a:xfrm>
            <a:off x="14850688" y="9689678"/>
            <a:ext cx="1968038" cy="547688"/>
          </a:xfrm>
          <a:prstGeom prst="rect">
            <a:avLst/>
          </a:prstGeom>
        </p:spPr>
        <p:txBody>
          <a:bodyPr vert="horz" lIns="91440" tIns="45720" rIns="91440" bIns="45720" rtlCol="0" anchor="ctr"/>
          <a:lstStyle>
            <a:lvl1pPr algn="r">
              <a:defRPr sz="1575">
                <a:solidFill>
                  <a:srgbClr val="FFFFFF"/>
                </a:solidFill>
              </a:defRPr>
            </a:lvl1p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cxnSp>
        <p:nvCxnSpPr>
          <p:cNvPr id="10" name="Straight Connector 9"/>
          <p:cNvCxnSpPr/>
          <p:nvPr/>
        </p:nvCxnSpPr>
        <p:spPr>
          <a:xfrm>
            <a:off x="1790298" y="2606768"/>
            <a:ext cx="149504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1256717"/>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p:txStyles>
    <p:titleStyle>
      <a:lvl1pPr algn="l" defTabSz="1371600" rtl="0" eaLnBrk="1" latinLnBrk="0" hangingPunct="1">
        <a:lnSpc>
          <a:spcPct val="85000"/>
        </a:lnSpc>
        <a:spcBef>
          <a:spcPct val="0"/>
        </a:spcBef>
        <a:buNone/>
        <a:defRPr sz="7200" kern="1200" spc="-75" baseline="0">
          <a:solidFill>
            <a:schemeClr val="tx1">
              <a:lumMod val="75000"/>
              <a:lumOff val="25000"/>
            </a:schemeClr>
          </a:solidFill>
          <a:latin typeface="+mj-lt"/>
          <a:ea typeface="+mj-ea"/>
          <a:cs typeface="+mj-cs"/>
        </a:defRPr>
      </a:lvl1pPr>
    </p:titleStyle>
    <p:bodyStyle>
      <a:lvl1pPr marL="137160" indent="-137160" algn="l" defTabSz="1371600" rtl="0" eaLnBrk="1" latinLnBrk="0" hangingPunct="1">
        <a:lnSpc>
          <a:spcPct val="90000"/>
        </a:lnSpc>
        <a:spcBef>
          <a:spcPts val="1800"/>
        </a:spcBef>
        <a:spcAft>
          <a:spcPts val="300"/>
        </a:spcAft>
        <a:buClr>
          <a:schemeClr val="accent1"/>
        </a:buClr>
        <a:buSzPct val="100000"/>
        <a:buFont typeface="Calibri" panose="020F0502020204030204" pitchFamily="34" charset="0"/>
        <a:buChar char=" "/>
        <a:defRPr sz="3000" kern="1200">
          <a:solidFill>
            <a:schemeClr val="tx1">
              <a:lumMod val="75000"/>
              <a:lumOff val="25000"/>
            </a:schemeClr>
          </a:solidFill>
          <a:latin typeface="+mn-lt"/>
          <a:ea typeface="+mn-ea"/>
          <a:cs typeface="+mn-cs"/>
        </a:defRPr>
      </a:lvl1pPr>
      <a:lvl2pPr marL="576072" indent="-274320" algn="l" defTabSz="1371600" rtl="0" eaLnBrk="1" latinLnBrk="0" hangingPunct="1">
        <a:lnSpc>
          <a:spcPct val="90000"/>
        </a:lnSpc>
        <a:spcBef>
          <a:spcPts val="300"/>
        </a:spcBef>
        <a:spcAft>
          <a:spcPts val="600"/>
        </a:spcAft>
        <a:buClr>
          <a:schemeClr val="accent1"/>
        </a:buClr>
        <a:buFont typeface="Calibri" pitchFamily="34" charset="0"/>
        <a:buChar char="◦"/>
        <a:defRPr sz="2700" kern="1200">
          <a:solidFill>
            <a:schemeClr val="tx1">
              <a:lumMod val="75000"/>
              <a:lumOff val="25000"/>
            </a:schemeClr>
          </a:solidFill>
          <a:latin typeface="+mn-lt"/>
          <a:ea typeface="+mn-ea"/>
          <a:cs typeface="+mn-cs"/>
        </a:defRPr>
      </a:lvl2pPr>
      <a:lvl3pPr marL="850392" indent="-27432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3pPr>
      <a:lvl4pPr marL="1124712" indent="-27432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4pPr>
      <a:lvl5pPr marL="1399032" indent="-27432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5pPr>
      <a:lvl6pPr marL="16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6pPr>
      <a:lvl7pPr marL="19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7pPr>
      <a:lvl8pPr marL="22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8pPr>
      <a:lvl9pPr marL="25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a:off x="602672" y="2009983"/>
            <a:ext cx="17415164" cy="3130281"/>
          </a:xfrm>
          <a:prstGeom prst="rect">
            <a:avLst/>
          </a:prstGeom>
        </p:spPr>
        <p:txBody>
          <a:bodyPr wrap="square">
            <a:spAutoFit/>
          </a:bodyPr>
          <a:lstStyle/>
          <a:p>
            <a:pPr marL="12065" marR="5080" algn="ctr">
              <a:lnSpc>
                <a:spcPct val="101600"/>
              </a:lnSpc>
              <a:spcBef>
                <a:spcPts val="70"/>
              </a:spcBef>
            </a:pPr>
            <a:r>
              <a:rPr lang="en-IN" sz="2000" b="1" spc="-25" dirty="0">
                <a:latin typeface="Times New Roman" pitchFamily="18" charset="0"/>
                <a:cs typeface="Times New Roman" pitchFamily="18" charset="0"/>
              </a:rPr>
              <a:t>DEPARTMENT </a:t>
            </a:r>
            <a:r>
              <a:rPr lang="en-IN" sz="2000" b="1" spc="-5" dirty="0">
                <a:latin typeface="Times New Roman" pitchFamily="18" charset="0"/>
                <a:cs typeface="Times New Roman" pitchFamily="18" charset="0"/>
              </a:rPr>
              <a:t>OF COMPUTER SCIENCE</a:t>
            </a:r>
            <a:r>
              <a:rPr lang="en-IN" sz="2000" b="1" spc="-125" dirty="0">
                <a:latin typeface="Times New Roman" pitchFamily="18" charset="0"/>
                <a:cs typeface="Times New Roman" pitchFamily="18" charset="0"/>
              </a:rPr>
              <a:t> </a:t>
            </a:r>
            <a:r>
              <a:rPr lang="en-IN" sz="2000" b="1" dirty="0">
                <a:latin typeface="Times New Roman" pitchFamily="18" charset="0"/>
                <a:cs typeface="Times New Roman" pitchFamily="18" charset="0"/>
              </a:rPr>
              <a:t>&amp;  </a:t>
            </a:r>
            <a:r>
              <a:rPr lang="en-IN" sz="2000" b="1" spc="-5" dirty="0">
                <a:latin typeface="Times New Roman" pitchFamily="18" charset="0"/>
                <a:cs typeface="Times New Roman" pitchFamily="18" charset="0"/>
              </a:rPr>
              <a:t>ENGINEERING </a:t>
            </a:r>
          </a:p>
          <a:p>
            <a:pPr marL="12065" marR="5080" algn="ctr">
              <a:lnSpc>
                <a:spcPct val="101600"/>
              </a:lnSpc>
              <a:spcBef>
                <a:spcPts val="70"/>
              </a:spcBef>
            </a:pPr>
            <a:r>
              <a:rPr lang="en-IN" sz="2000" b="1" spc="-5" dirty="0">
                <a:latin typeface="Times New Roman" pitchFamily="18" charset="0"/>
                <a:cs typeface="Times New Roman" pitchFamily="18" charset="0"/>
              </a:rPr>
              <a:t>SCHOOL OF COMPUTING  </a:t>
            </a:r>
          </a:p>
          <a:p>
            <a:pPr marL="12065" marR="5080" algn="ctr">
              <a:lnSpc>
                <a:spcPct val="101600"/>
              </a:lnSpc>
              <a:spcBef>
                <a:spcPts val="70"/>
              </a:spcBef>
            </a:pPr>
            <a:r>
              <a:rPr lang="en-IN" sz="2000" b="1" dirty="0">
                <a:latin typeface="Times New Roman" pitchFamily="18" charset="0"/>
                <a:cs typeface="Times New Roman" pitchFamily="18" charset="0"/>
              </a:rPr>
              <a:t>10214CS601 </a:t>
            </a:r>
            <a:r>
              <a:rPr lang="en-IN" sz="2000" b="1" spc="-5" dirty="0">
                <a:latin typeface="Times New Roman" pitchFamily="18" charset="0"/>
                <a:cs typeface="Times New Roman" pitchFamily="18" charset="0"/>
              </a:rPr>
              <a:t>MINOR PROJECT -I</a:t>
            </a:r>
          </a:p>
          <a:p>
            <a:pPr marL="12065" marR="5080" algn="ctr">
              <a:lnSpc>
                <a:spcPct val="101600"/>
              </a:lnSpc>
              <a:spcBef>
                <a:spcPts val="70"/>
              </a:spcBef>
            </a:pPr>
            <a:r>
              <a:rPr lang="en-IN" sz="2000" b="1" spc="-5" dirty="0">
                <a:latin typeface="Times New Roman" pitchFamily="18" charset="0"/>
                <a:cs typeface="Times New Roman" pitchFamily="18" charset="0"/>
              </a:rPr>
              <a:t>SUMMER SEMESTER(2025-2026)  </a:t>
            </a:r>
          </a:p>
          <a:p>
            <a:pPr marL="12065" marR="5080" algn="ctr">
              <a:lnSpc>
                <a:spcPct val="101600"/>
              </a:lnSpc>
              <a:spcBef>
                <a:spcPts val="70"/>
              </a:spcBef>
            </a:pPr>
            <a:r>
              <a:rPr lang="en-IN" sz="2400" b="1" spc="-5" dirty="0">
                <a:latin typeface="Times New Roman" pitchFamily="18" charset="0"/>
                <a:cs typeface="Times New Roman" pitchFamily="18" charset="0"/>
              </a:rPr>
              <a:t>INITIAL REVIEW</a:t>
            </a:r>
            <a:endParaRPr lang="en-IN" sz="2400" b="1" dirty="0">
              <a:latin typeface="Times New Roman" pitchFamily="18" charset="0"/>
              <a:cs typeface="Times New Roman" pitchFamily="18" charset="0"/>
            </a:endParaRPr>
          </a:p>
          <a:p>
            <a:pPr marL="758190"/>
            <a:r>
              <a:rPr lang="en-IN" sz="2000" b="1" dirty="0">
                <a:latin typeface="Times New Roman" pitchFamily="18" charset="0"/>
                <a:cs typeface="Times New Roman" pitchFamily="18" charset="0"/>
              </a:rPr>
              <a:t>                                                                                                                                      </a:t>
            </a:r>
          </a:p>
          <a:p>
            <a:pPr marL="758190"/>
            <a:endParaRPr lang="en-IN" sz="2000" b="1" dirty="0">
              <a:latin typeface="Times New Roman" pitchFamily="18" charset="0"/>
              <a:cs typeface="Times New Roman" pitchFamily="18" charset="0"/>
            </a:endParaRPr>
          </a:p>
          <a:p>
            <a:pPr marL="758190"/>
            <a:r>
              <a:rPr lang="en-IN" sz="2000" b="1" dirty="0">
                <a:latin typeface="Times New Roman" pitchFamily="18" charset="0"/>
                <a:cs typeface="Times New Roman" pitchFamily="18" charset="0"/>
              </a:rPr>
              <a:t>                                                                                                                                                         </a:t>
            </a:r>
          </a:p>
          <a:p>
            <a:pPr marL="758190"/>
            <a:r>
              <a:rPr lang="en-IN" sz="2000" b="1" dirty="0">
                <a:latin typeface="Times New Roman" pitchFamily="18" charset="0"/>
                <a:cs typeface="Times New Roman" pitchFamily="18" charset="0"/>
              </a:rPr>
              <a:t>                                                                         </a:t>
            </a:r>
            <a:r>
              <a:rPr lang="en-IN" sz="2800" b="1" dirty="0">
                <a:latin typeface="Times New Roman" pitchFamily="18" charset="0"/>
                <a:cs typeface="Times New Roman" pitchFamily="18" charset="0"/>
              </a:rPr>
              <a:t>“BONE FACTURE DECTION SYSTEM</a:t>
            </a:r>
            <a:r>
              <a:rPr lang="en-IN" sz="2800" b="1" spc="-5" dirty="0">
                <a:latin typeface="Times New Roman" pitchFamily="18" charset="0"/>
                <a:cs typeface="Times New Roman" pitchFamily="18" charset="0"/>
              </a:rPr>
              <a:t>”</a:t>
            </a:r>
            <a:endParaRPr lang="en-IN" sz="2000" dirty="0">
              <a:latin typeface="Times New Roman" pitchFamily="18" charset="0"/>
              <a:cs typeface="Times New Roman" pitchFamily="18" charset="0"/>
            </a:endParaRPr>
          </a:p>
        </p:txBody>
      </p:sp>
      <p:sp>
        <p:nvSpPr>
          <p:cNvPr id="29" name="Slide Number Placeholder 3"/>
          <p:cNvSpPr txBox="1">
            <a:spLocks/>
          </p:cNvSpPr>
          <p:nvPr/>
        </p:nvSpPr>
        <p:spPr>
          <a:xfrm>
            <a:off x="15740698" y="275977"/>
            <a:ext cx="21336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2000" b="0" i="0" u="none" strike="noStrike" kern="0" cap="none" spc="0" normalizeH="0" baseline="0" noProof="0" dirty="0">
              <a:ln>
                <a:noFill/>
              </a:ln>
              <a:solidFill>
                <a:schemeClr val="tx1"/>
              </a:solidFill>
              <a:effectLst/>
              <a:uLnTx/>
              <a:uFillTx/>
              <a:latin typeface="Times New Roman" pitchFamily="18" charset="0"/>
              <a:ea typeface="Calibri"/>
              <a:cs typeface="Times New Roman" pitchFamily="18" charset="0"/>
              <a:sym typeface="Calibri"/>
            </a:endParaRPr>
          </a:p>
        </p:txBody>
      </p:sp>
      <p:sp>
        <p:nvSpPr>
          <p:cNvPr id="31" name="Rectangle 30"/>
          <p:cNvSpPr/>
          <p:nvPr/>
        </p:nvSpPr>
        <p:spPr>
          <a:xfrm>
            <a:off x="351841" y="7660876"/>
            <a:ext cx="9103886" cy="1015663"/>
          </a:xfrm>
          <a:prstGeom prst="rect">
            <a:avLst/>
          </a:prstGeom>
        </p:spPr>
        <p:txBody>
          <a:bodyPr wrap="square">
            <a:spAutoFit/>
          </a:bodyPr>
          <a:lstStyle/>
          <a:p>
            <a:r>
              <a:rPr lang="en-IN" sz="2000" dirty="0">
                <a:latin typeface="Times New Roman" panose="02020603050405020304" pitchFamily="18" charset="0"/>
                <a:cs typeface="Times New Roman" pitchFamily="18" charset="0"/>
              </a:rPr>
              <a:t>1.V.Sai Navadeep Krishna 	(VTU24596)(23UECS0600)</a:t>
            </a:r>
          </a:p>
          <a:p>
            <a:r>
              <a:rPr lang="en-IN" sz="2000" dirty="0">
                <a:latin typeface="Times New Roman" panose="02020603050405020304" pitchFamily="18" charset="0"/>
                <a:cs typeface="Times New Roman" pitchFamily="18" charset="0"/>
              </a:rPr>
              <a:t>2.P.Harsha Vardhan 		(VTU24747)(23UECS0433)</a:t>
            </a:r>
          </a:p>
          <a:p>
            <a:r>
              <a:rPr lang="en-IN" sz="2000" dirty="0">
                <a:latin typeface="Times New Roman" panose="02020603050405020304" pitchFamily="18" charset="0"/>
                <a:ea typeface="Tahoma" panose="020B0604030504040204" pitchFamily="34" charset="0"/>
                <a:cs typeface="Times New Roman" panose="02020603050405020304" pitchFamily="18" charset="0"/>
              </a:rPr>
              <a:t>3.B.Yashwanth 			(VTU24565)(23UECS0076)</a:t>
            </a:r>
          </a:p>
        </p:txBody>
      </p:sp>
      <p:sp>
        <p:nvSpPr>
          <p:cNvPr id="32" name="TextBox 31"/>
          <p:cNvSpPr txBox="1"/>
          <p:nvPr/>
        </p:nvSpPr>
        <p:spPr>
          <a:xfrm>
            <a:off x="351841" y="7003473"/>
            <a:ext cx="4344850" cy="400110"/>
          </a:xfrm>
          <a:prstGeom prst="rect">
            <a:avLst/>
          </a:prstGeom>
          <a:noFill/>
        </p:spPr>
        <p:txBody>
          <a:bodyPr wrap="square" rtlCol="0">
            <a:spAutoFit/>
          </a:bodyPr>
          <a:lstStyle/>
          <a:p>
            <a:r>
              <a:rPr lang="en-IN" sz="2000" b="1" dirty="0">
                <a:latin typeface="Times New Roman" pitchFamily="18" charset="0"/>
                <a:cs typeface="Times New Roman" pitchFamily="18" charset="0"/>
              </a:rPr>
              <a:t>PRESENTED BY</a:t>
            </a:r>
          </a:p>
        </p:txBody>
      </p:sp>
      <p:sp>
        <p:nvSpPr>
          <p:cNvPr id="33" name="TextBox 32"/>
          <p:cNvSpPr txBox="1"/>
          <p:nvPr/>
        </p:nvSpPr>
        <p:spPr>
          <a:xfrm>
            <a:off x="12258371" y="6583970"/>
            <a:ext cx="3168503" cy="400110"/>
          </a:xfrm>
          <a:prstGeom prst="rect">
            <a:avLst/>
          </a:prstGeom>
          <a:noFill/>
        </p:spPr>
        <p:txBody>
          <a:bodyPr wrap="square" rtlCol="0">
            <a:spAutoFit/>
          </a:bodyPr>
          <a:lstStyle/>
          <a:p>
            <a:r>
              <a:rPr lang="en-IN" sz="2000" b="1" dirty="0">
                <a:latin typeface="Times New Roman" pitchFamily="18" charset="0"/>
                <a:cs typeface="Times New Roman" pitchFamily="18" charset="0"/>
              </a:rPr>
              <a:t>SUPERVISED BY</a:t>
            </a:r>
          </a:p>
        </p:txBody>
      </p:sp>
      <p:sp>
        <p:nvSpPr>
          <p:cNvPr id="34" name="TextBox 33"/>
          <p:cNvSpPr txBox="1"/>
          <p:nvPr/>
        </p:nvSpPr>
        <p:spPr>
          <a:xfrm>
            <a:off x="11990144" y="7430043"/>
            <a:ext cx="5884154" cy="430887"/>
          </a:xfrm>
          <a:prstGeom prst="rect">
            <a:avLst/>
          </a:prstGeom>
          <a:noFill/>
        </p:spPr>
        <p:txBody>
          <a:bodyPr wrap="square" rtlCol="0">
            <a:spAutoFit/>
          </a:bodyPr>
          <a:lstStyle/>
          <a:p>
            <a:r>
              <a:rPr lang="en-IN" sz="2200" dirty="0"/>
              <a:t>Dr.N.R.RajaLakshmi, B.E., M.E., </a:t>
            </a:r>
            <a:r>
              <a:rPr lang="en-IN" sz="2200" dirty="0" err="1"/>
              <a:t>Ph.D</a:t>
            </a:r>
            <a:endParaRPr lang="en-IN" sz="22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3A074ED6-CF7A-5721-E8DB-79CE15E7201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a:t>
            </a:fld>
            <a:endParaRPr lang="en-US"/>
          </a:p>
        </p:txBody>
      </p:sp>
      <p:sp>
        <p:nvSpPr>
          <p:cNvPr id="4" name="Footer Placeholder 3">
            <a:extLst>
              <a:ext uri="{FF2B5EF4-FFF2-40B4-BE49-F238E27FC236}">
                <a16:creationId xmlns:a16="http://schemas.microsoft.com/office/drawing/2014/main" id="{A914398D-2412-FDBC-ACEE-C574CFD444F7}"/>
              </a:ext>
            </a:extLst>
          </p:cNvPr>
          <p:cNvSpPr>
            <a:spLocks noGrp="1"/>
          </p:cNvSpPr>
          <p:nvPr>
            <p:ph type="ftr" sz="quarter" idx="11"/>
          </p:nvPr>
        </p:nvSpPr>
        <p:spPr/>
        <p:txBody>
          <a:bodyPr/>
          <a:lstStyle/>
          <a:p>
            <a:r>
              <a:rPr lang="en-IN" dirty="0"/>
              <a:t>DEPARTMENT OF COMPUTER SCIENCE &amp; ENGINEERING   /Minor project-1</a:t>
            </a:r>
          </a:p>
        </p:txBody>
      </p:sp>
      <p:sp>
        <p:nvSpPr>
          <p:cNvPr id="5" name="Date Placeholder 4">
            <a:extLst>
              <a:ext uri="{FF2B5EF4-FFF2-40B4-BE49-F238E27FC236}">
                <a16:creationId xmlns:a16="http://schemas.microsoft.com/office/drawing/2014/main" id="{0E3CE0F6-58C9-CD16-1564-53FAD958EF9E}"/>
              </a:ext>
            </a:extLst>
          </p:cNvPr>
          <p:cNvSpPr>
            <a:spLocks noGrp="1"/>
          </p:cNvSpPr>
          <p:nvPr>
            <p:ph type="dt" sz="half" idx="10"/>
          </p:nvPr>
        </p:nvSpPr>
        <p:spPr/>
        <p:txBody>
          <a:bodyPr/>
          <a:lstStyle/>
          <a:p>
            <a:fld id="{E4D1627A-24AB-481F-9D74-76C2593C9111}" type="datetime4">
              <a:rPr lang="en-US" smtClean="0"/>
              <a:pPr/>
              <a:t>August 23, 2025</a:t>
            </a:fld>
            <a:endParaRPr lang="en-US"/>
          </a:p>
        </p:txBody>
      </p:sp>
      <p:pic>
        <p:nvPicPr>
          <p:cNvPr id="14" name="Picture 13" descr="E:\WINDER SEM 2024-25\College Logo.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39900" y="641102"/>
            <a:ext cx="14350999" cy="92202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5A34B8-D035-23FE-3985-E87A0AAC80B8}"/>
              </a:ext>
            </a:extLst>
          </p:cNvPr>
          <p:cNvSpPr>
            <a:spLocks noGrp="1"/>
          </p:cNvSpPr>
          <p:nvPr>
            <p:ph type="dt" sz="half" idx="10"/>
          </p:nvPr>
        </p:nvSpPr>
        <p:spPr/>
        <p:txBody>
          <a:bodyPr/>
          <a:lstStyle/>
          <a:p>
            <a:fld id="{84B1D917-16EA-4D69-8845-9832B0C2F6AA}" type="datetime4">
              <a:rPr lang="en-US" smtClean="0"/>
              <a:pPr/>
              <a:t>August 23, 2025</a:t>
            </a:fld>
            <a:endParaRPr lang="en-US"/>
          </a:p>
        </p:txBody>
      </p:sp>
      <p:sp>
        <p:nvSpPr>
          <p:cNvPr id="3" name="Footer Placeholder 2">
            <a:extLst>
              <a:ext uri="{FF2B5EF4-FFF2-40B4-BE49-F238E27FC236}">
                <a16:creationId xmlns:a16="http://schemas.microsoft.com/office/drawing/2014/main" id="{91B3ADCA-67AE-42DE-EF52-89EBF58A9F57}"/>
              </a:ext>
            </a:extLst>
          </p:cNvPr>
          <p:cNvSpPr>
            <a:spLocks noGrp="1"/>
          </p:cNvSpPr>
          <p:nvPr>
            <p:ph type="ftr" sz="quarter" idx="11"/>
          </p:nvPr>
        </p:nvSpPr>
        <p:spPr/>
        <p:txBody>
          <a:bodyPr/>
          <a:lstStyle/>
          <a:p>
            <a:r>
              <a:rPr lang="en-IN" dirty="0"/>
              <a:t>DEPARTMENT OF COMPUTER SCIENCE &amp; ENGINEERING   / Minor project-1</a:t>
            </a:r>
          </a:p>
        </p:txBody>
      </p:sp>
      <p:sp>
        <p:nvSpPr>
          <p:cNvPr id="4" name="Slide Number Placeholder 3">
            <a:extLst>
              <a:ext uri="{FF2B5EF4-FFF2-40B4-BE49-F238E27FC236}">
                <a16:creationId xmlns:a16="http://schemas.microsoft.com/office/drawing/2014/main" id="{22E67759-03ED-C594-5362-A96BE418F41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a:t>
            </a:fld>
            <a:endParaRPr lang="en-US"/>
          </a:p>
        </p:txBody>
      </p:sp>
      <p:sp>
        <p:nvSpPr>
          <p:cNvPr id="6" name="TextBox 5">
            <a:extLst>
              <a:ext uri="{FF2B5EF4-FFF2-40B4-BE49-F238E27FC236}">
                <a16:creationId xmlns:a16="http://schemas.microsoft.com/office/drawing/2014/main" id="{27F6FFE9-5EA4-B70C-B9AA-53FA2D6C1045}"/>
              </a:ext>
            </a:extLst>
          </p:cNvPr>
          <p:cNvSpPr txBox="1"/>
          <p:nvPr/>
        </p:nvSpPr>
        <p:spPr>
          <a:xfrm>
            <a:off x="1645921" y="1039450"/>
            <a:ext cx="15432710" cy="1323439"/>
          </a:xfrm>
          <a:prstGeom prst="rect">
            <a:avLst/>
          </a:prstGeom>
          <a:noFill/>
        </p:spPr>
        <p:txBody>
          <a:bodyPr wrap="square">
            <a:spAutoFit/>
          </a:bodyPr>
          <a:lstStyle/>
          <a:p>
            <a:r>
              <a:rPr lang="en-IN" sz="4000" b="1" spc="-5" dirty="0">
                <a:latin typeface="Times New Roman" panose="02020603050405020304" pitchFamily="18" charset="0"/>
                <a:cs typeface="Times New Roman" panose="02020603050405020304" pitchFamily="18" charset="0"/>
              </a:rPr>
              <a:t>PROJECT TITLE</a:t>
            </a:r>
            <a:r>
              <a:rPr lang="en-IN" sz="4000" b="1" spc="-120" dirty="0">
                <a:latin typeface="Times New Roman" panose="02020603050405020304" pitchFamily="18" charset="0"/>
                <a:cs typeface="Times New Roman" panose="02020603050405020304" pitchFamily="18" charset="0"/>
              </a:rPr>
              <a:t> </a:t>
            </a:r>
            <a:r>
              <a:rPr lang="en-IN" sz="4000" b="1" spc="-20" dirty="0">
                <a:latin typeface="Times New Roman" panose="02020603050405020304" pitchFamily="18" charset="0"/>
                <a:cs typeface="Times New Roman" panose="02020603050405020304" pitchFamily="18" charset="0"/>
              </a:rPr>
              <a:t>JUSTIFICATION(In Accordance with Community Service Project  Survey undertaken/ New concept)</a:t>
            </a:r>
            <a:endParaRPr lang="en-IN" sz="40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4E05F02-3505-41DC-3F1A-FDE2AFC468BD}"/>
              </a:ext>
            </a:extLst>
          </p:cNvPr>
          <p:cNvSpPr txBox="1"/>
          <p:nvPr/>
        </p:nvSpPr>
        <p:spPr>
          <a:xfrm>
            <a:off x="1128066" y="2748463"/>
            <a:ext cx="16031867" cy="5693866"/>
          </a:xfrm>
          <a:prstGeom prst="rect">
            <a:avLst/>
          </a:prstGeom>
          <a:noFill/>
        </p:spPr>
        <p:txBody>
          <a:bodyPr wrap="square" rtlCol="0">
            <a:spAutoFit/>
          </a:bodyPr>
          <a:lstStyle/>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 </a:t>
            </a:r>
            <a:r>
              <a:rPr lang="en-US" sz="2600" b="1" dirty="0">
                <a:latin typeface="Times New Roman" panose="02020603050405020304" pitchFamily="18" charset="0"/>
                <a:cs typeface="Times New Roman" panose="02020603050405020304" pitchFamily="18" charset="0"/>
              </a:rPr>
              <a:t>Bone Fracture Detection System</a:t>
            </a:r>
            <a:r>
              <a:rPr lang="en-US" sz="2600" dirty="0">
                <a:latin typeface="Times New Roman" panose="02020603050405020304" pitchFamily="18" charset="0"/>
                <a:cs typeface="Times New Roman" panose="02020603050405020304" pitchFamily="18" charset="0"/>
              </a:rPr>
              <a:t> enhances the accuracy and efficiency of fracture diagnosis by integrating secure patient–doctor interaction with deep learning-based analysis. Traditional diagnosis often relies on manual inspection of X-ray images, which can be time-consuming and subject to human error. This project addresses these challenges by offering a platform where both patients and doctors can collaborate securely.</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Doctors and patients can register through encrypted sign-up processes, ensuring data privacy. Patients can upload their X-ray images and selectively grant access to doctors of their choice, maintaining full control over their medical data.</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 system employs the </a:t>
            </a:r>
            <a:r>
              <a:rPr lang="en-US" sz="2600" b="1" dirty="0">
                <a:latin typeface="Times New Roman" panose="02020603050405020304" pitchFamily="18" charset="0"/>
                <a:cs typeface="Times New Roman" panose="02020603050405020304" pitchFamily="18" charset="0"/>
              </a:rPr>
              <a:t>YOLO deep learning algorithm</a:t>
            </a:r>
            <a:r>
              <a:rPr lang="en-US" sz="2600" dirty="0">
                <a:latin typeface="Times New Roman" panose="02020603050405020304" pitchFamily="18" charset="0"/>
                <a:cs typeface="Times New Roman" panose="02020603050405020304" pitchFamily="18" charset="0"/>
              </a:rPr>
              <a:t> to assist in detecting fractures, identifying their type and severity using bounding boxes. These preliminary results help doctors make faster, informed decisions while reducing workload. All detection reports are securely stored in the database, ensuring quick retrieval and continuity of care.</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By combining encrypted data handling with machine learning assistance, this system improves diagnostic speed, enhances patient–doctor communication, and provides a reliable foundation for more effective fracture treatment planning.</a:t>
            </a:r>
          </a:p>
        </p:txBody>
      </p:sp>
    </p:spTree>
    <p:extLst>
      <p:ext uri="{BB962C8B-B14F-4D97-AF65-F5344CB8AC3E}">
        <p14:creationId xmlns:p14="http://schemas.microsoft.com/office/powerpoint/2010/main" val="3147784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E300B1-5598-BE82-F202-5E0EB0806FA4}"/>
              </a:ext>
            </a:extLst>
          </p:cNvPr>
          <p:cNvSpPr>
            <a:spLocks noGrp="1"/>
          </p:cNvSpPr>
          <p:nvPr>
            <p:ph type="dt" sz="half" idx="10"/>
          </p:nvPr>
        </p:nvSpPr>
        <p:spPr/>
        <p:txBody>
          <a:bodyPr/>
          <a:lstStyle/>
          <a:p>
            <a:fld id="{84B1D917-16EA-4D69-8845-9832B0C2F6AA}" type="datetime4">
              <a:rPr lang="en-US" smtClean="0"/>
              <a:pPr/>
              <a:t>August 23, 2025</a:t>
            </a:fld>
            <a:endParaRPr lang="en-US"/>
          </a:p>
        </p:txBody>
      </p:sp>
      <p:sp>
        <p:nvSpPr>
          <p:cNvPr id="3" name="Footer Placeholder 2">
            <a:extLst>
              <a:ext uri="{FF2B5EF4-FFF2-40B4-BE49-F238E27FC236}">
                <a16:creationId xmlns:a16="http://schemas.microsoft.com/office/drawing/2014/main" id="{8183B2A4-7F05-F543-5AB2-7ECF5840A969}"/>
              </a:ext>
            </a:extLst>
          </p:cNvPr>
          <p:cNvSpPr>
            <a:spLocks noGrp="1"/>
          </p:cNvSpPr>
          <p:nvPr>
            <p:ph type="ftr" sz="quarter" idx="11"/>
          </p:nvPr>
        </p:nvSpPr>
        <p:spPr/>
        <p:txBody>
          <a:bodyPr/>
          <a:lstStyle/>
          <a:p>
            <a:r>
              <a:rPr lang="en-IN" dirty="0"/>
              <a:t>DEPARTMENT OF COMPUTER SCIENCE &amp; ENGINEERING   / Minor project-1</a:t>
            </a:r>
          </a:p>
        </p:txBody>
      </p:sp>
      <p:sp>
        <p:nvSpPr>
          <p:cNvPr id="4" name="Slide Number Placeholder 3">
            <a:extLst>
              <a:ext uri="{FF2B5EF4-FFF2-40B4-BE49-F238E27FC236}">
                <a16:creationId xmlns:a16="http://schemas.microsoft.com/office/drawing/2014/main" id="{5D009501-FB32-C988-4976-7C694400911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a:t>
            </a:fld>
            <a:endParaRPr lang="en-US"/>
          </a:p>
        </p:txBody>
      </p:sp>
      <p:sp>
        <p:nvSpPr>
          <p:cNvPr id="6" name="TextBox 5">
            <a:extLst>
              <a:ext uri="{FF2B5EF4-FFF2-40B4-BE49-F238E27FC236}">
                <a16:creationId xmlns:a16="http://schemas.microsoft.com/office/drawing/2014/main" id="{20C9B3CB-9605-D3F0-35D9-9F801A3703E6}"/>
              </a:ext>
            </a:extLst>
          </p:cNvPr>
          <p:cNvSpPr txBox="1"/>
          <p:nvPr/>
        </p:nvSpPr>
        <p:spPr>
          <a:xfrm>
            <a:off x="1061918" y="348318"/>
            <a:ext cx="15471058" cy="707886"/>
          </a:xfrm>
          <a:prstGeom prst="rect">
            <a:avLst/>
          </a:prstGeom>
          <a:noFill/>
        </p:spPr>
        <p:txBody>
          <a:bodyPr wrap="square">
            <a:spAutoFit/>
          </a:bodyPr>
          <a:lstStyle/>
          <a:p>
            <a:pPr algn="ctr"/>
            <a:r>
              <a:rPr lang="en-IN" sz="4000" b="1" spc="-5" dirty="0">
                <a:latin typeface="Times New Roman" panose="02020603050405020304" pitchFamily="18" charset="0"/>
                <a:cs typeface="Times New Roman" panose="02020603050405020304" pitchFamily="18" charset="0"/>
              </a:rPr>
              <a:t>OBJECTIVE </a:t>
            </a:r>
            <a:r>
              <a:rPr lang="en-IN" sz="4000" b="1" dirty="0">
                <a:latin typeface="Times New Roman" panose="02020603050405020304" pitchFamily="18" charset="0"/>
                <a:cs typeface="Times New Roman" panose="02020603050405020304" pitchFamily="18" charset="0"/>
              </a:rPr>
              <a:t>&amp; </a:t>
            </a:r>
            <a:r>
              <a:rPr lang="en-IN" sz="4000" b="1" spc="-5" dirty="0">
                <a:latin typeface="Times New Roman" panose="02020603050405020304" pitchFamily="18" charset="0"/>
                <a:cs typeface="Times New Roman" panose="02020603050405020304" pitchFamily="18" charset="0"/>
              </a:rPr>
              <a:t>SCOPE OF THE</a:t>
            </a:r>
            <a:r>
              <a:rPr lang="en-IN" sz="4000" b="1" spc="-215" dirty="0">
                <a:latin typeface="Times New Roman" panose="02020603050405020304" pitchFamily="18" charset="0"/>
                <a:cs typeface="Times New Roman" panose="02020603050405020304" pitchFamily="18" charset="0"/>
              </a:rPr>
              <a:t> </a:t>
            </a:r>
            <a:r>
              <a:rPr lang="en-IN" sz="4000" b="1" spc="-5" dirty="0">
                <a:latin typeface="Times New Roman" panose="02020603050405020304" pitchFamily="18" charset="0"/>
                <a:cs typeface="Times New Roman" panose="02020603050405020304" pitchFamily="18" charset="0"/>
              </a:rPr>
              <a:t>PROJECT</a:t>
            </a:r>
            <a:endParaRPr lang="en-IN" sz="40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D320C95-CECA-3B29-9A8E-C8DB772E0000}"/>
              </a:ext>
            </a:extLst>
          </p:cNvPr>
          <p:cNvSpPr txBox="1"/>
          <p:nvPr/>
        </p:nvSpPr>
        <p:spPr>
          <a:xfrm>
            <a:off x="776168" y="1105540"/>
            <a:ext cx="16749832" cy="7509748"/>
          </a:xfrm>
          <a:prstGeom prst="rect">
            <a:avLst/>
          </a:prstGeom>
          <a:noFill/>
        </p:spPr>
        <p:txBody>
          <a:bodyPr wrap="square" rtlCol="0">
            <a:spAutoFit/>
          </a:bodyPr>
          <a:lstStyle/>
          <a:p>
            <a:endParaRPr lang="en-US" sz="2800" b="1"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OBJECTIVE</a:t>
            </a:r>
            <a:endParaRPr lang="en-US" sz="26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To develop a secure and efficient system for detecting bone fractures from X-ray images using the YOLO deep learning algorithm.</a:t>
            </a:r>
          </a:p>
          <a:p>
            <a:pPr marL="342900" indent="-3429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To assist doctors by providing preliminary fracture detection results, reducing diagnostic time and workload</a:t>
            </a:r>
          </a:p>
          <a:p>
            <a:pPr marL="342900" indent="-3429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To enable patients to upload X-rays and control access to their medical data through secure, encrypted communication.</a:t>
            </a:r>
          </a:p>
          <a:p>
            <a:pPr marL="342900" indent="-3429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To store and manage detection results and reports for future reference and improved treatment planning</a:t>
            </a:r>
            <a:r>
              <a:rPr lang="en-US" sz="20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itchFamily="34" charset="0"/>
              <a:buChar char="•"/>
            </a:pPr>
            <a:endParaRPr lang="en-US" sz="20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SCOPE</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User Modules: Includes separate modules for doctors and patients with secure sign-up and login functionality.</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Data Privacy: All passwords are encrypted, and patients can selectively share X-rays with their chosen doctors.</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X-Ray Analysis: Uses YOLO deep learning to detect fracture type and severity, displaying bounding boxes for clarity.</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Result Management: Automatic storage of detection results and reports in the database for easy access and continuity of care.</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Workflow Enhancement: Reduces time for manual diagnosis, improves doctor–patient communication, and enhances treatment planning.</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Scalability: Can be extended to support multiple doctors, hospitals, or clinics, with potential integration into larger healthcare systems.</a:t>
            </a:r>
            <a:endParaRPr lang="en-IN" sz="2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4670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172725-B7C6-223D-C223-330E64D9E22A}"/>
              </a:ext>
            </a:extLst>
          </p:cNvPr>
          <p:cNvSpPr>
            <a:spLocks noGrp="1"/>
          </p:cNvSpPr>
          <p:nvPr>
            <p:ph type="dt" sz="half" idx="10"/>
          </p:nvPr>
        </p:nvSpPr>
        <p:spPr/>
        <p:txBody>
          <a:bodyPr/>
          <a:lstStyle/>
          <a:p>
            <a:fld id="{84B1D917-16EA-4D69-8845-9832B0C2F6AA}" type="datetime4">
              <a:rPr lang="en-US" smtClean="0"/>
              <a:pPr/>
              <a:t>August 23, 2025</a:t>
            </a:fld>
            <a:endParaRPr lang="en-US"/>
          </a:p>
        </p:txBody>
      </p:sp>
      <p:sp>
        <p:nvSpPr>
          <p:cNvPr id="3" name="Footer Placeholder 2">
            <a:extLst>
              <a:ext uri="{FF2B5EF4-FFF2-40B4-BE49-F238E27FC236}">
                <a16:creationId xmlns:a16="http://schemas.microsoft.com/office/drawing/2014/main" id="{FAFF13D2-AAAE-460F-A12E-B21A464BC420}"/>
              </a:ext>
            </a:extLst>
          </p:cNvPr>
          <p:cNvSpPr>
            <a:spLocks noGrp="1"/>
          </p:cNvSpPr>
          <p:nvPr>
            <p:ph type="ftr" sz="quarter" idx="11"/>
          </p:nvPr>
        </p:nvSpPr>
        <p:spPr/>
        <p:txBody>
          <a:bodyPr/>
          <a:lstStyle/>
          <a:p>
            <a:r>
              <a:rPr lang="en-IN" dirty="0"/>
              <a:t>DEPARTMENT OF COMPUTER SCIENCE &amp; ENGINEERING Minor project-1</a:t>
            </a:r>
          </a:p>
        </p:txBody>
      </p:sp>
      <p:sp>
        <p:nvSpPr>
          <p:cNvPr id="4" name="Slide Number Placeholder 3">
            <a:extLst>
              <a:ext uri="{FF2B5EF4-FFF2-40B4-BE49-F238E27FC236}">
                <a16:creationId xmlns:a16="http://schemas.microsoft.com/office/drawing/2014/main" id="{C8EC5B28-1F55-45CC-8512-A84E6C6E7F9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a:t>
            </a:fld>
            <a:endParaRPr lang="en-US"/>
          </a:p>
        </p:txBody>
      </p:sp>
      <p:sp>
        <p:nvSpPr>
          <p:cNvPr id="6" name="TextBox 5">
            <a:extLst>
              <a:ext uri="{FF2B5EF4-FFF2-40B4-BE49-F238E27FC236}">
                <a16:creationId xmlns:a16="http://schemas.microsoft.com/office/drawing/2014/main" id="{882BC6FD-1CD0-E38D-DE0F-7DCC2AEEDF07}"/>
              </a:ext>
            </a:extLst>
          </p:cNvPr>
          <p:cNvSpPr txBox="1"/>
          <p:nvPr/>
        </p:nvSpPr>
        <p:spPr>
          <a:xfrm>
            <a:off x="1645921" y="624825"/>
            <a:ext cx="13688142" cy="707886"/>
          </a:xfrm>
          <a:prstGeom prst="rect">
            <a:avLst/>
          </a:prstGeom>
          <a:noFill/>
        </p:spPr>
        <p:txBody>
          <a:bodyPr wrap="square">
            <a:spAutoFit/>
          </a:bodyPr>
          <a:lstStyle/>
          <a:p>
            <a:pPr marL="12700" algn="ctr">
              <a:lnSpc>
                <a:spcPct val="100000"/>
              </a:lnSpc>
              <a:spcBef>
                <a:spcPts val="100"/>
              </a:spcBef>
            </a:pPr>
            <a:r>
              <a:rPr lang="en-IN" sz="4000" b="1" spc="-15" dirty="0">
                <a:latin typeface="Times New Roman"/>
                <a:cs typeface="Times New Roman"/>
              </a:rPr>
              <a:t>TOOLS </a:t>
            </a:r>
            <a:r>
              <a:rPr lang="en-IN" sz="4000" b="1" spc="-25" dirty="0">
                <a:latin typeface="Times New Roman"/>
                <a:cs typeface="Times New Roman"/>
              </a:rPr>
              <a:t>TO </a:t>
            </a:r>
            <a:r>
              <a:rPr lang="en-IN" sz="4000" b="1" spc="-5" dirty="0">
                <a:latin typeface="Times New Roman"/>
                <a:cs typeface="Times New Roman"/>
              </a:rPr>
              <a:t>BE USED IN THE</a:t>
            </a:r>
            <a:r>
              <a:rPr lang="en-IN" sz="4000" b="1" spc="-130" dirty="0">
                <a:latin typeface="Times New Roman"/>
                <a:cs typeface="Times New Roman"/>
              </a:rPr>
              <a:t> </a:t>
            </a:r>
            <a:r>
              <a:rPr lang="en-IN" sz="4000" b="1" spc="-5" dirty="0">
                <a:latin typeface="Times New Roman"/>
                <a:cs typeface="Times New Roman"/>
              </a:rPr>
              <a:t>PROJECT</a:t>
            </a:r>
            <a:endParaRPr lang="en-IN" sz="4000" dirty="0">
              <a:latin typeface="Times New Roman"/>
              <a:cs typeface="Times New Roman"/>
            </a:endParaRPr>
          </a:p>
        </p:txBody>
      </p:sp>
      <p:sp>
        <p:nvSpPr>
          <p:cNvPr id="5" name="Rectangle 4"/>
          <p:cNvSpPr/>
          <p:nvPr/>
        </p:nvSpPr>
        <p:spPr>
          <a:xfrm>
            <a:off x="1295400" y="1908036"/>
            <a:ext cx="16783050" cy="6432530"/>
          </a:xfrm>
          <a:prstGeom prst="rect">
            <a:avLst/>
          </a:prstGeom>
        </p:spPr>
        <p:txBody>
          <a:bodyPr wrap="square">
            <a:spAutoFit/>
          </a:bodyPr>
          <a:lstStyle/>
          <a:p>
            <a:r>
              <a:rPr lang="en-IN" sz="2800" b="1" dirty="0">
                <a:latin typeface="Times New Roman" panose="02020603050405020304" pitchFamily="18" charset="0"/>
                <a:cs typeface="Times New Roman" panose="02020603050405020304" pitchFamily="18" charset="0"/>
              </a:rPr>
              <a:t>Programming Language:</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Python – for implementing machine learning models, image processing, and backend logic.</a:t>
            </a:r>
          </a:p>
          <a:p>
            <a:pPr algn="just"/>
            <a:r>
              <a:rPr lang="en-IN" sz="2400" dirty="0">
                <a:latin typeface="Times New Roman" panose="02020603050405020304" pitchFamily="18" charset="0"/>
                <a:cs typeface="Times New Roman" panose="02020603050405020304" pitchFamily="18" charset="0"/>
              </a:rPr>
              <a:t>Deep Learning Framework:</a:t>
            </a:r>
          </a:p>
          <a:p>
            <a:pPr algn="just"/>
            <a:r>
              <a:rPr lang="en-IN" sz="2400" dirty="0">
                <a:latin typeface="Times New Roman" panose="02020603050405020304" pitchFamily="18" charset="0"/>
                <a:cs typeface="Times New Roman" panose="02020603050405020304" pitchFamily="18" charset="0"/>
              </a:rPr>
              <a:t>TensorFlow / </a:t>
            </a:r>
            <a:r>
              <a:rPr lang="en-IN" sz="2400" dirty="0" err="1">
                <a:latin typeface="Times New Roman" panose="02020603050405020304" pitchFamily="18" charset="0"/>
                <a:cs typeface="Times New Roman" panose="02020603050405020304" pitchFamily="18" charset="0"/>
              </a:rPr>
              <a:t>PyTorch</a:t>
            </a:r>
            <a:r>
              <a:rPr lang="en-IN" sz="2400" dirty="0">
                <a:latin typeface="Times New Roman" panose="02020603050405020304" pitchFamily="18" charset="0"/>
                <a:cs typeface="Times New Roman" panose="02020603050405020304" pitchFamily="18" charset="0"/>
              </a:rPr>
              <a:t> – to train, test, and deploy the YOLO-based fracture detection model.</a:t>
            </a:r>
          </a:p>
          <a:p>
            <a:pPr algn="just"/>
            <a:r>
              <a:rPr lang="en-IN" sz="2400" dirty="0">
                <a:latin typeface="Times New Roman" panose="02020603050405020304" pitchFamily="18" charset="0"/>
                <a:cs typeface="Times New Roman" panose="02020603050405020304" pitchFamily="18" charset="0"/>
              </a:rPr>
              <a:t>YOLO (You Only Look Once):</a:t>
            </a:r>
          </a:p>
          <a:p>
            <a:pPr algn="just"/>
            <a:r>
              <a:rPr lang="en-IN" sz="2400" dirty="0">
                <a:latin typeface="Times New Roman" panose="02020603050405020304" pitchFamily="18" charset="0"/>
                <a:cs typeface="Times New Roman" panose="02020603050405020304" pitchFamily="18" charset="0"/>
              </a:rPr>
              <a:t>For object detection and identifying fracture regions in X-ray images.</a:t>
            </a:r>
          </a:p>
          <a:p>
            <a:pPr algn="just"/>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Database:</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MySQL / PostgreSQL – to store user credentials (encrypted), detection results, and reports.</a:t>
            </a:r>
          </a:p>
          <a:p>
            <a:pPr algn="just"/>
            <a:r>
              <a:rPr lang="en-IN" sz="2400" dirty="0">
                <a:latin typeface="Times New Roman" panose="02020603050405020304" pitchFamily="18" charset="0"/>
                <a:cs typeface="Times New Roman" panose="02020603050405020304" pitchFamily="18" charset="0"/>
              </a:rPr>
              <a:t>Web Framework:</a:t>
            </a:r>
          </a:p>
          <a:p>
            <a:pPr algn="just"/>
            <a:r>
              <a:rPr lang="en-IN" sz="2400" dirty="0">
                <a:latin typeface="Times New Roman" panose="02020603050405020304" pitchFamily="18" charset="0"/>
                <a:cs typeface="Times New Roman" panose="02020603050405020304" pitchFamily="18" charset="0"/>
              </a:rPr>
              <a:t>Flask / Django – to create the web application and manage patient–doctor interactions.</a:t>
            </a:r>
          </a:p>
          <a:p>
            <a:pPr algn="just"/>
            <a:r>
              <a:rPr lang="en-IN" sz="2400" dirty="0">
                <a:latin typeface="Times New Roman" panose="02020603050405020304" pitchFamily="18" charset="0"/>
                <a:cs typeface="Times New Roman" panose="02020603050405020304" pitchFamily="18" charset="0"/>
              </a:rPr>
              <a:t>Frontend Technologies:</a:t>
            </a:r>
          </a:p>
          <a:p>
            <a:pPr algn="just"/>
            <a:r>
              <a:rPr lang="en-IN" sz="2400" dirty="0">
                <a:latin typeface="Times New Roman" panose="02020603050405020304" pitchFamily="18" charset="0"/>
                <a:cs typeface="Times New Roman" panose="02020603050405020304" pitchFamily="18" charset="0"/>
              </a:rPr>
              <a:t>HTML, CSS, JavaScript, Bootstrap – for creating a user-friendly interface for patients and doctors.</a:t>
            </a:r>
          </a:p>
          <a:p>
            <a:pPr algn="just"/>
            <a:r>
              <a:rPr lang="en-IN" sz="2400" dirty="0">
                <a:latin typeface="Times New Roman" panose="02020603050405020304" pitchFamily="18" charset="0"/>
                <a:cs typeface="Times New Roman" panose="02020603050405020304" pitchFamily="18" charset="0"/>
              </a:rPr>
              <a:t>Encryption Library:</a:t>
            </a:r>
          </a:p>
          <a:p>
            <a:pPr algn="just"/>
            <a:r>
              <a:rPr lang="en-IN" sz="2400" dirty="0" err="1">
                <a:latin typeface="Times New Roman" panose="02020603050405020304" pitchFamily="18" charset="0"/>
                <a:cs typeface="Times New Roman" panose="02020603050405020304" pitchFamily="18" charset="0"/>
              </a:rPr>
              <a:t>bcrypt</a:t>
            </a:r>
            <a:r>
              <a:rPr lang="en-IN" sz="2400" dirty="0">
                <a:latin typeface="Times New Roman" panose="02020603050405020304" pitchFamily="18" charset="0"/>
                <a:cs typeface="Times New Roman" panose="02020603050405020304" pitchFamily="18" charset="0"/>
              </a:rPr>
              <a:t> / </a:t>
            </a:r>
            <a:r>
              <a:rPr lang="en-IN" sz="2400" dirty="0" err="1">
                <a:latin typeface="Times New Roman" panose="02020603050405020304" pitchFamily="18" charset="0"/>
                <a:cs typeface="Times New Roman" panose="02020603050405020304" pitchFamily="18" charset="0"/>
              </a:rPr>
              <a:t>hashlib</a:t>
            </a:r>
            <a:r>
              <a:rPr lang="en-IN" sz="2400" dirty="0">
                <a:latin typeface="Times New Roman" panose="02020603050405020304" pitchFamily="18" charset="0"/>
                <a:cs typeface="Times New Roman" panose="02020603050405020304" pitchFamily="18" charset="0"/>
              </a:rPr>
              <a:t> – for secure password encryption and authentication.</a:t>
            </a:r>
          </a:p>
          <a:p>
            <a:pPr algn="just"/>
            <a:r>
              <a:rPr lang="en-IN" sz="2400" dirty="0">
                <a:latin typeface="Times New Roman" panose="02020603050405020304" pitchFamily="18" charset="0"/>
                <a:cs typeface="Times New Roman" panose="02020603050405020304" pitchFamily="18" charset="0"/>
              </a:rPr>
              <a:t>Image Handling Libraries:</a:t>
            </a:r>
          </a:p>
          <a:p>
            <a:pPr algn="just"/>
            <a:r>
              <a:rPr lang="en-IN" sz="2400" dirty="0">
                <a:latin typeface="Times New Roman" panose="02020603050405020304" pitchFamily="18" charset="0"/>
                <a:cs typeface="Times New Roman" panose="02020603050405020304" pitchFamily="18" charset="0"/>
              </a:rPr>
              <a:t>OpenCV, PIL (Pillow) – for preprocessing and handling X-ray images before detection.</a:t>
            </a:r>
          </a:p>
        </p:txBody>
      </p:sp>
    </p:spTree>
    <p:extLst>
      <p:ext uri="{BB962C8B-B14F-4D97-AF65-F5344CB8AC3E}">
        <p14:creationId xmlns:p14="http://schemas.microsoft.com/office/powerpoint/2010/main" val="4106480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A31B3F-5390-9584-E40A-64475B97255B}"/>
              </a:ext>
            </a:extLst>
          </p:cNvPr>
          <p:cNvSpPr>
            <a:spLocks noGrp="1"/>
          </p:cNvSpPr>
          <p:nvPr>
            <p:ph type="dt" sz="half" idx="10"/>
          </p:nvPr>
        </p:nvSpPr>
        <p:spPr/>
        <p:txBody>
          <a:bodyPr/>
          <a:lstStyle/>
          <a:p>
            <a:fld id="{84B1D917-16EA-4D69-8845-9832B0C2F6AA}" type="datetime4">
              <a:rPr lang="en-US" smtClean="0"/>
              <a:pPr/>
              <a:t>August 23, 2025</a:t>
            </a:fld>
            <a:endParaRPr lang="en-US"/>
          </a:p>
        </p:txBody>
      </p:sp>
      <p:sp>
        <p:nvSpPr>
          <p:cNvPr id="3" name="Footer Placeholder 2">
            <a:extLst>
              <a:ext uri="{FF2B5EF4-FFF2-40B4-BE49-F238E27FC236}">
                <a16:creationId xmlns:a16="http://schemas.microsoft.com/office/drawing/2014/main" id="{4B588CDB-E9A0-B6CF-D92A-62CA7CEFEADC}"/>
              </a:ext>
            </a:extLst>
          </p:cNvPr>
          <p:cNvSpPr>
            <a:spLocks noGrp="1"/>
          </p:cNvSpPr>
          <p:nvPr>
            <p:ph type="ftr" sz="quarter" idx="11"/>
          </p:nvPr>
        </p:nvSpPr>
        <p:spPr/>
        <p:txBody>
          <a:bodyPr/>
          <a:lstStyle/>
          <a:p>
            <a:r>
              <a:rPr lang="en-IN" dirty="0"/>
              <a:t>DEPARTMENT OF COMPUTER SCIENCE &amp; ENGINEERING Minor project-1</a:t>
            </a:r>
          </a:p>
        </p:txBody>
      </p:sp>
      <p:sp>
        <p:nvSpPr>
          <p:cNvPr id="4" name="Slide Number Placeholder 3">
            <a:extLst>
              <a:ext uri="{FF2B5EF4-FFF2-40B4-BE49-F238E27FC236}">
                <a16:creationId xmlns:a16="http://schemas.microsoft.com/office/drawing/2014/main" id="{17069AD1-BBC1-CB59-6F23-D1C0BE48E01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a:t>
            </a:fld>
            <a:endParaRPr lang="en-US"/>
          </a:p>
        </p:txBody>
      </p:sp>
      <p:sp>
        <p:nvSpPr>
          <p:cNvPr id="6" name="TextBox 5">
            <a:extLst>
              <a:ext uri="{FF2B5EF4-FFF2-40B4-BE49-F238E27FC236}">
                <a16:creationId xmlns:a16="http://schemas.microsoft.com/office/drawing/2014/main" id="{9E7A0952-D922-790E-593D-0DFBEDBF5D13}"/>
              </a:ext>
            </a:extLst>
          </p:cNvPr>
          <p:cNvSpPr txBox="1"/>
          <p:nvPr/>
        </p:nvSpPr>
        <p:spPr>
          <a:xfrm>
            <a:off x="2144584" y="595154"/>
            <a:ext cx="14003594" cy="707886"/>
          </a:xfrm>
          <a:prstGeom prst="rect">
            <a:avLst/>
          </a:prstGeom>
          <a:noFill/>
        </p:spPr>
        <p:txBody>
          <a:bodyPr wrap="square">
            <a:spAutoFit/>
          </a:bodyPr>
          <a:lstStyle/>
          <a:p>
            <a:pPr algn="ctr"/>
            <a:r>
              <a:rPr lang="en-IN" sz="4000" b="1" spc="-30" dirty="0">
                <a:latin typeface="Times New Roman" panose="02020603050405020304" pitchFamily="18" charset="0"/>
                <a:cs typeface="Times New Roman" panose="02020603050405020304" pitchFamily="18" charset="0"/>
              </a:rPr>
              <a:t>SOCIETAL IMPORTANCE </a:t>
            </a:r>
            <a:r>
              <a:rPr lang="en-IN" sz="4000" b="1" spc="-5" dirty="0">
                <a:latin typeface="Times New Roman" panose="02020603050405020304" pitchFamily="18" charset="0"/>
                <a:cs typeface="Times New Roman" panose="02020603050405020304" pitchFamily="18" charset="0"/>
              </a:rPr>
              <a:t>OF THE</a:t>
            </a:r>
            <a:r>
              <a:rPr lang="en-IN" sz="4000" b="1" spc="-270" dirty="0">
                <a:latin typeface="Times New Roman" panose="02020603050405020304" pitchFamily="18" charset="0"/>
                <a:cs typeface="Times New Roman" panose="02020603050405020304" pitchFamily="18" charset="0"/>
              </a:rPr>
              <a:t> </a:t>
            </a:r>
            <a:r>
              <a:rPr lang="en-IN" sz="4000" b="1" spc="-5" dirty="0">
                <a:latin typeface="Times New Roman" panose="02020603050405020304" pitchFamily="18" charset="0"/>
                <a:cs typeface="Times New Roman" panose="02020603050405020304" pitchFamily="18" charset="0"/>
              </a:rPr>
              <a:t>PROJECT</a:t>
            </a:r>
            <a:endParaRPr lang="en-IN" sz="4000" b="1" dirty="0">
              <a:latin typeface="Times New Roman" panose="02020603050405020304" pitchFamily="18" charset="0"/>
              <a:cs typeface="Times New Roman" panose="02020603050405020304" pitchFamily="18" charset="0"/>
            </a:endParaRPr>
          </a:p>
        </p:txBody>
      </p:sp>
      <p:sp>
        <p:nvSpPr>
          <p:cNvPr id="5" name="Rectangle 4"/>
          <p:cNvSpPr/>
          <p:nvPr/>
        </p:nvSpPr>
        <p:spPr>
          <a:xfrm>
            <a:off x="1289685" y="2246919"/>
            <a:ext cx="15708629" cy="5293757"/>
          </a:xfrm>
          <a:prstGeom prst="rect">
            <a:avLst/>
          </a:prstGeom>
        </p:spPr>
        <p:txBody>
          <a:bodyPr wrap="square">
            <a:spAutoFit/>
          </a:bodyPr>
          <a:lstStyle/>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 </a:t>
            </a:r>
            <a:r>
              <a:rPr lang="en-US" sz="2600" b="1" dirty="0">
                <a:latin typeface="Times New Roman" panose="02020603050405020304" pitchFamily="18" charset="0"/>
                <a:cs typeface="Times New Roman" panose="02020603050405020304" pitchFamily="18" charset="0"/>
              </a:rPr>
              <a:t>Bone Fracture Detection System</a:t>
            </a:r>
            <a:r>
              <a:rPr lang="en-US" sz="2600" dirty="0">
                <a:latin typeface="Times New Roman" panose="02020603050405020304" pitchFamily="18" charset="0"/>
                <a:cs typeface="Times New Roman" panose="02020603050405020304" pitchFamily="18" charset="0"/>
              </a:rPr>
              <a:t> provides significant societal benefits by improving healthcare accessibility, accuracy, and efficiency in fracture diagnosis. Traditional methods often involve delays in getting X-ray reports and require doctors to spend additional time on manual analysis, which can lead to longer treatment initiation and increased patient discomfort.</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This system allows </a:t>
            </a:r>
            <a:r>
              <a:rPr lang="en-US" sz="2600" b="1" dirty="0">
                <a:latin typeface="Times New Roman" panose="02020603050405020304" pitchFamily="18" charset="0"/>
                <a:cs typeface="Times New Roman" panose="02020603050405020304" pitchFamily="18" charset="0"/>
              </a:rPr>
              <a:t>faster detection of fractures</a:t>
            </a:r>
            <a:r>
              <a:rPr lang="en-US" sz="2600" dirty="0">
                <a:latin typeface="Times New Roman" panose="02020603050405020304" pitchFamily="18" charset="0"/>
                <a:cs typeface="Times New Roman" panose="02020603050405020304" pitchFamily="18" charset="0"/>
              </a:rPr>
              <a:t> using machine learning, helping doctors focus more on treatment rather than prolonged diagnosis. By integrating secure communication channels between patients and doctors, it ensures that </a:t>
            </a:r>
            <a:r>
              <a:rPr lang="en-US" sz="2600" b="1" dirty="0">
                <a:latin typeface="Times New Roman" panose="02020603050405020304" pitchFamily="18" charset="0"/>
                <a:cs typeface="Times New Roman" panose="02020603050405020304" pitchFamily="18" charset="0"/>
              </a:rPr>
              <a:t>patients in remote or rural areas</a:t>
            </a:r>
            <a:r>
              <a:rPr lang="en-US" sz="2600" dirty="0">
                <a:latin typeface="Times New Roman" panose="02020603050405020304" pitchFamily="18" charset="0"/>
                <a:cs typeface="Times New Roman" panose="02020603050405020304" pitchFamily="18" charset="0"/>
              </a:rPr>
              <a:t> can easily upload their X-rays and receive expert feedback without the need for repeated hospital visits.</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 encryption and permission-based access feature enhances </a:t>
            </a:r>
            <a:r>
              <a:rPr lang="en-US" sz="2600" b="1" dirty="0">
                <a:latin typeface="Times New Roman" panose="02020603050405020304" pitchFamily="18" charset="0"/>
                <a:cs typeface="Times New Roman" panose="02020603050405020304" pitchFamily="18" charset="0"/>
              </a:rPr>
              <a:t>data privacy</a:t>
            </a:r>
            <a:r>
              <a:rPr lang="en-US" sz="2600" dirty="0">
                <a:latin typeface="Times New Roman" panose="02020603050405020304" pitchFamily="18" charset="0"/>
                <a:cs typeface="Times New Roman" panose="02020603050405020304" pitchFamily="18" charset="0"/>
              </a:rPr>
              <a:t>, building trust in digital healthcare solutions. Early and accurate detection of fractures reduces the risk of complications, accelerates recovery, and ultimately leads to </a:t>
            </a:r>
            <a:r>
              <a:rPr lang="en-US" sz="2600" b="1" dirty="0">
                <a:latin typeface="Times New Roman" panose="02020603050405020304" pitchFamily="18" charset="0"/>
                <a:cs typeface="Times New Roman" panose="02020603050405020304" pitchFamily="18" charset="0"/>
              </a:rPr>
              <a:t>better quality of life</a:t>
            </a:r>
            <a:r>
              <a:rPr lang="en-US" sz="2600" dirty="0">
                <a:latin typeface="Times New Roman" panose="02020603050405020304" pitchFamily="18" charset="0"/>
                <a:cs typeface="Times New Roman" panose="02020603050405020304" pitchFamily="18" charset="0"/>
              </a:rPr>
              <a:t> for patients.</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On a broader scale, such systems can </a:t>
            </a:r>
            <a:r>
              <a:rPr lang="en-US" sz="2600" b="1" dirty="0">
                <a:latin typeface="Times New Roman" panose="02020603050405020304" pitchFamily="18" charset="0"/>
                <a:cs typeface="Times New Roman" panose="02020603050405020304" pitchFamily="18" charset="0"/>
              </a:rPr>
              <a:t>reduce healthcare workload</a:t>
            </a:r>
            <a:r>
              <a:rPr lang="en-US" sz="2600" dirty="0">
                <a:latin typeface="Times New Roman" panose="02020603050405020304" pitchFamily="18" charset="0"/>
                <a:cs typeface="Times New Roman" panose="02020603050405020304" pitchFamily="18" charset="0"/>
              </a:rPr>
              <a:t>, optimize hospital resources, and pave the way for </a:t>
            </a:r>
            <a:r>
              <a:rPr lang="en-US" sz="2600" b="1" dirty="0">
                <a:latin typeface="Times New Roman" panose="02020603050405020304" pitchFamily="18" charset="0"/>
                <a:cs typeface="Times New Roman" panose="02020603050405020304" pitchFamily="18" charset="0"/>
              </a:rPr>
              <a:t>technologically advanced, patient-centric healthcare</a:t>
            </a:r>
            <a:r>
              <a:rPr lang="en-US" sz="2600" dirty="0">
                <a:latin typeface="Times New Roman" panose="02020603050405020304" pitchFamily="18" charset="0"/>
                <a:cs typeface="Times New Roman" panose="02020603050405020304" pitchFamily="18" charset="0"/>
              </a:rPr>
              <a:t> models.</a:t>
            </a:r>
          </a:p>
        </p:txBody>
      </p:sp>
    </p:spTree>
    <p:extLst>
      <p:ext uri="{BB962C8B-B14F-4D97-AF65-F5344CB8AC3E}">
        <p14:creationId xmlns:p14="http://schemas.microsoft.com/office/powerpoint/2010/main" val="3788679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pPr/>
              <a:t>August 23, 2025</a:t>
            </a:fld>
            <a:endParaRPr lang="en-US" dirty="0"/>
          </a:p>
        </p:txBody>
      </p:sp>
      <p:sp>
        <p:nvSpPr>
          <p:cNvPr id="3" name="Footer Placeholder 2"/>
          <p:cNvSpPr>
            <a:spLocks noGrp="1"/>
          </p:cNvSpPr>
          <p:nvPr>
            <p:ph type="ftr" sz="quarter" idx="11"/>
          </p:nvPr>
        </p:nvSpPr>
        <p:spPr/>
        <p:txBody>
          <a:bodyPr/>
          <a:lstStyle/>
          <a:p>
            <a:r>
              <a:rPr lang="en-IN" dirty="0"/>
              <a:t>DEPARTMENT OF COMPUTER SCIENCE &amp; ENGINEERING   / Minor project-1</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a:t>
            </a:fld>
            <a:endParaRPr lang="en-US"/>
          </a:p>
        </p:txBody>
      </p:sp>
      <p:sp>
        <p:nvSpPr>
          <p:cNvPr id="8" name="Rectangle 7"/>
          <p:cNvSpPr/>
          <p:nvPr/>
        </p:nvSpPr>
        <p:spPr>
          <a:xfrm>
            <a:off x="5563955" y="698561"/>
            <a:ext cx="6635343" cy="646331"/>
          </a:xfrm>
          <a:prstGeom prst="rect">
            <a:avLst/>
          </a:prstGeom>
        </p:spPr>
        <p:txBody>
          <a:bodyPr wrap="none">
            <a:spAutoFit/>
          </a:bodyPr>
          <a:lstStyle/>
          <a:p>
            <a:r>
              <a:rPr lang="en-IN" sz="3600" b="1" dirty="0">
                <a:latin typeface="Times New Roman" pitchFamily="18" charset="0"/>
                <a:cs typeface="Times New Roman" pitchFamily="18" charset="0"/>
              </a:rPr>
              <a:t>TIMELINE OF THE PROJECT</a:t>
            </a:r>
            <a:endParaRPr lang="en-IN" sz="3600" dirty="0"/>
          </a:p>
        </p:txBody>
      </p:sp>
      <p:sp>
        <p:nvSpPr>
          <p:cNvPr id="9" name="TextBox 8"/>
          <p:cNvSpPr txBox="1"/>
          <p:nvPr/>
        </p:nvSpPr>
        <p:spPr>
          <a:xfrm>
            <a:off x="4152900" y="8730539"/>
            <a:ext cx="7024255" cy="461665"/>
          </a:xfrm>
          <a:prstGeom prst="rect">
            <a:avLst/>
          </a:prstGeom>
          <a:noFill/>
        </p:spPr>
        <p:txBody>
          <a:bodyPr wrap="square" rtlCol="0">
            <a:spAutoFit/>
          </a:bodyPr>
          <a:lstStyle/>
          <a:p>
            <a:r>
              <a:rPr lang="en-IN" sz="2400" dirty="0"/>
              <a:t> </a:t>
            </a:r>
          </a:p>
        </p:txBody>
      </p:sp>
      <p:pic>
        <p:nvPicPr>
          <p:cNvPr id="7" name="Picture 6" descr="A screenshot of a calendar">
            <a:extLst>
              <a:ext uri="{FF2B5EF4-FFF2-40B4-BE49-F238E27FC236}">
                <a16:creationId xmlns:a16="http://schemas.microsoft.com/office/drawing/2014/main" id="{B3DE8DE3-A082-AFCF-4B5F-1B84D4C15043}"/>
              </a:ext>
            </a:extLst>
          </p:cNvPr>
          <p:cNvPicPr>
            <a:picLocks noChangeAspect="1"/>
          </p:cNvPicPr>
          <p:nvPr/>
        </p:nvPicPr>
        <p:blipFill>
          <a:blip r:embed="rId3"/>
          <a:stretch>
            <a:fillRect/>
          </a:stretch>
        </p:blipFill>
        <p:spPr>
          <a:xfrm>
            <a:off x="3793432" y="2398567"/>
            <a:ext cx="10176387" cy="54898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234547" y="3345873"/>
            <a:ext cx="4592782" cy="92333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IN" sz="5400" b="1" spc="50" dirty="0">
                <a:ln w="11430"/>
                <a:solidFill>
                  <a:srgbClr val="002060"/>
                </a:solidFill>
                <a:effectLst>
                  <a:outerShdw blurRad="76200" dist="50800" dir="5400000" algn="tl" rotWithShape="0">
                    <a:srgbClr val="000000">
                      <a:alpha val="65000"/>
                    </a:srgbClr>
                  </a:outerShdw>
                </a:effectLst>
                <a:latin typeface="Times New Roman" pitchFamily="18" charset="0"/>
                <a:cs typeface="Times New Roman" pitchFamily="18" charset="0"/>
              </a:rPr>
              <a:t>THANK YOU</a:t>
            </a:r>
          </a:p>
        </p:txBody>
      </p:sp>
      <p:sp>
        <p:nvSpPr>
          <p:cNvPr id="9" name="Slide Number Placeholder 8">
            <a:extLst>
              <a:ext uri="{FF2B5EF4-FFF2-40B4-BE49-F238E27FC236}">
                <a16:creationId xmlns:a16="http://schemas.microsoft.com/office/drawing/2014/main" id="{DE467E1A-CA3B-20EC-133C-FDE72F8F5F6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7</a:t>
            </a:fld>
            <a:endParaRPr lang="en-US"/>
          </a:p>
        </p:txBody>
      </p:sp>
      <p:sp>
        <p:nvSpPr>
          <p:cNvPr id="10" name="Footer Placeholder 9">
            <a:extLst>
              <a:ext uri="{FF2B5EF4-FFF2-40B4-BE49-F238E27FC236}">
                <a16:creationId xmlns:a16="http://schemas.microsoft.com/office/drawing/2014/main" id="{C085D79C-5367-5D11-F316-8E41FBE4E674}"/>
              </a:ext>
            </a:extLst>
          </p:cNvPr>
          <p:cNvSpPr>
            <a:spLocks noGrp="1"/>
          </p:cNvSpPr>
          <p:nvPr>
            <p:ph type="ftr" sz="quarter" idx="11"/>
          </p:nvPr>
        </p:nvSpPr>
        <p:spPr/>
        <p:txBody>
          <a:bodyPr/>
          <a:lstStyle/>
          <a:p>
            <a:r>
              <a:rPr lang="en-IN" dirty="0"/>
              <a:t>DEPARTMENT OF COMPUTER SCIENCE &amp; ENGINEERING   / Minor project-1</a:t>
            </a:r>
          </a:p>
        </p:txBody>
      </p:sp>
      <p:sp>
        <p:nvSpPr>
          <p:cNvPr id="11" name="Date Placeholder 10">
            <a:extLst>
              <a:ext uri="{FF2B5EF4-FFF2-40B4-BE49-F238E27FC236}">
                <a16:creationId xmlns:a16="http://schemas.microsoft.com/office/drawing/2014/main" id="{245F8EC2-D106-5A27-3961-508236D30CF6}"/>
              </a:ext>
            </a:extLst>
          </p:cNvPr>
          <p:cNvSpPr>
            <a:spLocks noGrp="1"/>
          </p:cNvSpPr>
          <p:nvPr>
            <p:ph type="dt" sz="half" idx="10"/>
          </p:nvPr>
        </p:nvSpPr>
        <p:spPr/>
        <p:txBody>
          <a:bodyPr/>
          <a:lstStyle/>
          <a:p>
            <a:fld id="{FC19F4A3-E32D-4520-B9BC-6787D8D72445}" type="datetime4">
              <a:rPr lang="en-US" smtClean="0"/>
              <a:pPr/>
              <a:t>August 23, 2025</a:t>
            </a:fld>
            <a:endParaRPr lang="en-US"/>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472</TotalTime>
  <Words>925</Words>
  <Application>Microsoft Office PowerPoint</Application>
  <PresentationFormat>Custom</PresentationFormat>
  <Paragraphs>83</Paragraphs>
  <Slides>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Calibri</vt:lpstr>
      <vt:lpstr>Arial</vt:lpstr>
      <vt:lpstr>Times New Roman</vt:lpstr>
      <vt:lpstr>Calibri Light</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Sharad</dc:creator>
  <cp:lastModifiedBy>Navadeep Krishna</cp:lastModifiedBy>
  <cp:revision>38</cp:revision>
  <dcterms:modified xsi:type="dcterms:W3CDTF">2025-08-23T07:40:19Z</dcterms:modified>
</cp:coreProperties>
</file>